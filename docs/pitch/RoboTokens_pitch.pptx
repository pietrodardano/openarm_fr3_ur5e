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0:00-0:25 HOOK</a:t>
            </a:r>
          </a:p>
          <a:p>
            <a:r>
              <a:t>Two cans. They look identical. One is full, one is empty. Any camera sees the same image twice. Vision is not enough. And that is exactly what robots rely on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0:25-0:55 PROBLEM</a:t>
            </a:r>
          </a:p>
          <a:p>
            <a:r>
              <a:t>Physical AI has to deal with physics: mass, stiffness, fill level. You cannot see those. You only learn them by interacting with the object. A robot that sorts parcels, hands a tool to a person, or loads a lab rack makes wrong decisions the moment two objects look the same.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0:55-1:30 OUR IDEA</a:t>
            </a:r>
          </a:p>
          <a:p>
            <a:r>
              <a:t>RoboTokens adds a physical sensing layer. The arm already carries the sensor we need: every joint reports its torque. We lift the object, read the joints, and estimate its mass. No load cell, no extra hardware, just software. The result is a mass with an uncertainty, not a guess.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1:30-2:10 LIVE DEMO  (run: robotokens run, default task 'Give me the heavy can.')</a:t>
            </a:r>
          </a:p>
          <a:p>
            <a:r>
              <a:t>I say: give me the heavy can. Vision finds the two cans. The robot lifts each one, weighs it, and compares them statistically. Only when the difference is clear does it act. Then it carries the heavy can to me and holds it. It opens the gripper only when it feels me take it. If the evidence is weak, it re-measures, and if it is still unclear, it refuses to guess.</a:t>
            </a:r>
          </a:p>
          <a:p/>
          <a:p>
            <a:r>
              <a:t>If the live run fails: say 'the robot refused to guess' and play the video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2:10-2:20 EVIDENCE (part 1)</a:t>
            </a:r>
          </a:p>
          <a:p>
            <a:r>
              <a:t>We also simulated the same recipe on three different arms: OpenArm, UR5e and Franka. (Let the animation run for a few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2:20-2:35 EVIDENCE (part 2), honestly</a:t>
            </a:r>
          </a:p>
          <a:p>
            <a:r>
              <a:t>On the real OpenArm, the full pipeline runs end to end. In simulation we added realistic error sources: drift, friction, ripple, grasp position, model error. Full versus empty is resolved on all three arms every time; the OpenArm resolves about 20 to 30 grams. And the simulation showed us something to fix: today the robot is overconfident on tiny differences. With a floor from repeated weighings it stops acting wrongly and abstains instead. Real benchmarks on the robot are our first next step.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2:35-2:55 WHY IT MATTERS</a:t>
            </a:r>
          </a:p>
          <a:p>
            <a:r>
              <a:t>Warehouses already check weight to catch mis-picks, but with extra scales. Labs verify fills by weight. Assistive robots must hand things over safely. We bring that check into the grasp itself. Every run produces an auditable report, and our dashboard shows the vision, the digital twin and the live torques.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a:t>
            </a:r>
          </a:p>
          <a:p>
            <a:r>
              <a:t>(Optional, a few seconds) Introduce the four of us, or let this slide stay up during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2:55-3:00 CLOSE</a:t>
            </a:r>
          </a:p>
          <a:p>
            <a:r>
              <a:t>Vision tells the robot what to pick. Interaction tells it what it picked. RoboTokens: vision is not enough.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4.jp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gif"/><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banner.png"/>
          <p:cNvPicPr>
            <a:picLocks noChangeAspect="1"/>
          </p:cNvPicPr>
          <p:nvPr/>
        </p:nvPicPr>
        <p:blipFill>
          <a:blip r:embed="rId3"/>
          <a:stretch>
            <a:fillRect/>
          </a:stretch>
        </p:blipFill>
        <p:spPr>
          <a:xfrm>
            <a:off x="548640" y="775582"/>
            <a:ext cx="11091672" cy="4575314"/>
          </a:xfrm>
          <a:prstGeom prst="rect">
            <a:avLst/>
          </a:prstGeom>
        </p:spPr>
      </p:pic>
      <p:sp>
        <p:nvSpPr>
          <p:cNvPr id="3" name="TextBox 2"/>
          <p:cNvSpPr txBox="1"/>
          <p:nvPr/>
        </p:nvSpPr>
        <p:spPr>
          <a:xfrm>
            <a:off x="548640" y="5897880"/>
            <a:ext cx="11091672" cy="457200"/>
          </a:xfrm>
          <a:prstGeom prst="rect">
            <a:avLst/>
          </a:prstGeom>
          <a:noFill/>
        </p:spPr>
        <p:txBody>
          <a:bodyPr wrap="square" anchor="t" lIns="45720" rIns="45720">
            <a:spAutoFit/>
          </a:bodyPr>
          <a:lstStyle/>
          <a:p>
            <a:pPr algn="ctr">
              <a:lnSpc>
                <a:spcPct val="110000"/>
              </a:lnSpc>
            </a:pPr>
            <a:r>
              <a:rPr sz="1600" b="0" i="0">
                <a:solidFill>
                  <a:srgbClr val="5B6578"/>
                </a:solidFill>
                <a:latin typeface="Arial"/>
              </a:rPr>
              <a:t>Real OpenArm v1  ·  MuJoCo digital twin  ·  3-minute pitch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3D8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28600"/>
            <a:ext cx="10058400" cy="320040"/>
          </a:xfrm>
          <a:prstGeom prst="rect">
            <a:avLst/>
          </a:prstGeom>
          <a:noFill/>
        </p:spPr>
        <p:txBody>
          <a:bodyPr wrap="square" anchor="t" lIns="45720" rIns="45720">
            <a:spAutoFit/>
          </a:bodyPr>
          <a:lstStyle/>
          <a:p>
            <a:pPr algn="l">
              <a:lnSpc>
                <a:spcPct val="110000"/>
              </a:lnSpc>
            </a:pPr>
            <a:r>
              <a:rPr sz="1200" b="1" i="0">
                <a:solidFill>
                  <a:srgbClr val="3D8F8C"/>
                </a:solidFill>
                <a:latin typeface="Arial"/>
              </a:rPr>
              <a:t>THE PROBLEM</a:t>
            </a:r>
          </a:p>
        </p:txBody>
      </p:sp>
      <p:sp>
        <p:nvSpPr>
          <p:cNvPr id="4" name="TextBox 3"/>
          <p:cNvSpPr txBox="1"/>
          <p:nvPr/>
        </p:nvSpPr>
        <p:spPr>
          <a:xfrm>
            <a:off x="777240" y="429768"/>
            <a:ext cx="10789920" cy="731520"/>
          </a:xfrm>
          <a:prstGeom prst="rect">
            <a:avLst/>
          </a:prstGeom>
          <a:noFill/>
        </p:spPr>
        <p:txBody>
          <a:bodyPr wrap="square" anchor="t" lIns="45720" rIns="45720">
            <a:spAutoFit/>
          </a:bodyPr>
          <a:lstStyle/>
          <a:p>
            <a:pPr algn="l">
              <a:lnSpc>
                <a:spcPct val="110000"/>
              </a:lnSpc>
            </a:pPr>
            <a:r>
              <a:rPr sz="3400" b="1" i="0">
                <a:solidFill>
                  <a:srgbClr val="16294A"/>
                </a:solidFill>
                <a:latin typeface="Arial"/>
              </a:rPr>
              <a:t>Two cans. Same image.</a:t>
            </a:r>
          </a:p>
        </p:txBody>
      </p:sp>
      <p:pic>
        <p:nvPicPr>
          <p:cNvPr id="5" name="Picture 4" descr="still_12.jpg"/>
          <p:cNvPicPr>
            <a:picLocks noChangeAspect="1"/>
          </p:cNvPicPr>
          <p:nvPr/>
        </p:nvPicPr>
        <p:blipFill>
          <a:blip r:embed="rId3"/>
          <a:srcRect l="39583" t="5556" r="6250"/>
          <a:stretch>
            <a:fillRect/>
          </a:stretch>
        </p:blipFill>
        <p:spPr>
          <a:xfrm>
            <a:off x="686696" y="1417320"/>
            <a:ext cx="4661647" cy="4572000"/>
          </a:xfrm>
          <a:prstGeom prst="rect">
            <a:avLst/>
          </a:prstGeom>
        </p:spPr>
      </p:pic>
      <p:sp>
        <p:nvSpPr>
          <p:cNvPr id="6" name="TextBox 5"/>
          <p:cNvSpPr txBox="1"/>
          <p:nvPr/>
        </p:nvSpPr>
        <p:spPr>
          <a:xfrm>
            <a:off x="548640" y="6053328"/>
            <a:ext cx="4937760" cy="274320"/>
          </a:xfrm>
          <a:prstGeom prst="rect">
            <a:avLst/>
          </a:prstGeom>
          <a:noFill/>
        </p:spPr>
        <p:txBody>
          <a:bodyPr wrap="square" anchor="t" lIns="45720" rIns="45720">
            <a:spAutoFit/>
          </a:bodyPr>
          <a:lstStyle/>
          <a:p>
            <a:pPr algn="ctr">
              <a:lnSpc>
                <a:spcPct val="110000"/>
              </a:lnSpc>
            </a:pPr>
            <a:r>
              <a:rPr sz="1100" b="0" i="0">
                <a:solidFill>
                  <a:srgbClr val="5B6578"/>
                </a:solidFill>
                <a:latin typeface="Arial"/>
              </a:rPr>
              <a:t>Our OpenArm in front of two look-alike cans. One is full, one is empty.</a:t>
            </a:r>
          </a:p>
        </p:txBody>
      </p:sp>
      <p:sp>
        <p:nvSpPr>
          <p:cNvPr id="7" name="TextBox 6"/>
          <p:cNvSpPr txBox="1"/>
          <p:nvPr/>
        </p:nvSpPr>
        <p:spPr>
          <a:xfrm>
            <a:off x="6035040" y="1508760"/>
            <a:ext cx="5669280" cy="731520"/>
          </a:xfrm>
          <a:prstGeom prst="rect">
            <a:avLst/>
          </a:prstGeom>
          <a:noFill/>
        </p:spPr>
        <p:txBody>
          <a:bodyPr wrap="square" anchor="t" lIns="45720" rIns="45720">
            <a:spAutoFit/>
          </a:bodyPr>
          <a:lstStyle/>
          <a:p>
            <a:pPr algn="l">
              <a:lnSpc>
                <a:spcPct val="110000"/>
              </a:lnSpc>
            </a:pPr>
            <a:r>
              <a:rPr sz="3400" b="1" i="0">
                <a:solidFill>
                  <a:srgbClr val="E2A03D"/>
                </a:solidFill>
                <a:latin typeface="Arial"/>
              </a:rPr>
              <a:t>Which one is full?</a:t>
            </a:r>
          </a:p>
        </p:txBody>
      </p:sp>
      <p:sp>
        <p:nvSpPr>
          <p:cNvPr id="8" name="TextBox 7"/>
          <p:cNvSpPr txBox="1"/>
          <p:nvPr/>
        </p:nvSpPr>
        <p:spPr>
          <a:xfrm>
            <a:off x="6035040" y="2423160"/>
            <a:ext cx="5669280" cy="2377440"/>
          </a:xfrm>
          <a:prstGeom prst="rect">
            <a:avLst/>
          </a:prstGeom>
          <a:noFill/>
        </p:spPr>
        <p:txBody>
          <a:bodyPr wrap="square" anchor="t" lIns="45720" rIns="45720">
            <a:spAutoFit/>
          </a:bodyPr>
          <a:lstStyle/>
          <a:p>
            <a:pPr algn="l">
              <a:lnSpc>
                <a:spcPct val="115000"/>
              </a:lnSpc>
              <a:spcAft>
                <a:spcPts val="1000"/>
              </a:spcAft>
            </a:pPr>
            <a:r>
              <a:rPr sz="2100" b="1" i="0">
                <a:solidFill>
                  <a:srgbClr val="3D8F8C"/>
                </a:solidFill>
                <a:latin typeface="Arial"/>
              </a:rPr>
              <a:t>•  </a:t>
            </a:r>
            <a:r>
              <a:rPr sz="2100" b="0" i="0">
                <a:solidFill>
                  <a:srgbClr val="16294A"/>
                </a:solidFill>
                <a:latin typeface="Arial"/>
              </a:rPr>
              <a:t>A camera sees shape, colour and position.</a:t>
            </a:r>
          </a:p>
          <a:p>
            <a:pPr algn="l">
              <a:lnSpc>
                <a:spcPct val="115000"/>
              </a:lnSpc>
              <a:spcAft>
                <a:spcPts val="1000"/>
              </a:spcAft>
            </a:pPr>
            <a:r>
              <a:rPr sz="2100" b="1" i="0">
                <a:solidFill>
                  <a:srgbClr val="3D8F8C"/>
                </a:solidFill>
                <a:latin typeface="Arial"/>
              </a:rPr>
              <a:t>•  </a:t>
            </a:r>
            <a:r>
              <a:rPr sz="2100" b="0" i="0">
                <a:solidFill>
                  <a:srgbClr val="16294A"/>
                </a:solidFill>
                <a:latin typeface="Arial"/>
              </a:rPr>
              <a:t>Mass, fill level and stiffness are invisible.</a:t>
            </a:r>
          </a:p>
          <a:p>
            <a:pPr algn="l">
              <a:lnSpc>
                <a:spcPct val="115000"/>
              </a:lnSpc>
              <a:spcAft>
                <a:spcPts val="1000"/>
              </a:spcAft>
            </a:pPr>
            <a:r>
              <a:rPr sz="2100" b="1" i="0">
                <a:solidFill>
                  <a:srgbClr val="3D8F8C"/>
                </a:solidFill>
                <a:latin typeface="Arial"/>
              </a:rPr>
              <a:t>•  </a:t>
            </a:r>
            <a:r>
              <a:rPr sz="2100" b="0" i="0">
                <a:solidFill>
                  <a:srgbClr val="16294A"/>
                </a:solidFill>
                <a:latin typeface="Arial"/>
              </a:rPr>
              <a:t>Physical AI needs physics: these properties are revealed only by interaction.</a:t>
            </a:r>
          </a:p>
        </p:txBody>
      </p:sp>
      <p:sp>
        <p:nvSpPr>
          <p:cNvPr id="9" name="Rounded Rectangle 8"/>
          <p:cNvSpPr/>
          <p:nvPr/>
        </p:nvSpPr>
        <p:spPr>
          <a:xfrm>
            <a:off x="6035040" y="4892040"/>
            <a:ext cx="5669280" cy="960120"/>
          </a:xfrm>
          <a:prstGeom prst="roundRect">
            <a:avLst>
              <a:gd name="adj" fmla="val 8000"/>
            </a:avLst>
          </a:prstGeom>
          <a:solidFill>
            <a:srgbClr val="E9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4892040"/>
            <a:ext cx="5303520" cy="960120"/>
          </a:xfrm>
          <a:prstGeom prst="rect">
            <a:avLst/>
          </a:prstGeom>
          <a:noFill/>
        </p:spPr>
        <p:txBody>
          <a:bodyPr wrap="square" anchor="ctr" lIns="45720" rIns="45720">
            <a:spAutoFit/>
          </a:bodyPr>
          <a:lstStyle/>
          <a:p>
            <a:pPr algn="l">
              <a:lnSpc>
                <a:spcPct val="110000"/>
              </a:lnSpc>
            </a:pPr>
            <a:r>
              <a:rPr sz="1800" b="1" i="0">
                <a:solidFill>
                  <a:srgbClr val="16294A"/>
                </a:solidFill>
                <a:latin typeface="Arial"/>
              </a:rPr>
              <a:t>Vision-only robots guess. </a:t>
            </a:r>
            <a:r>
              <a:rPr sz="1800" b="0" i="0">
                <a:solidFill>
                  <a:srgbClr val="16294A"/>
                </a:solidFill>
                <a:latin typeface="Arial"/>
              </a:rPr>
              <a:t>Sorting, handover and lab handling fail when objects look alike.</a:t>
            </a:r>
          </a:p>
        </p:txBody>
      </p:sp>
      <p:pic>
        <p:nvPicPr>
          <p:cNvPr id="11" name="Picture 10" descr="logo.png"/>
          <p:cNvPicPr>
            <a:picLocks noChangeAspect="1"/>
          </p:cNvPicPr>
          <p:nvPr/>
        </p:nvPicPr>
        <p:blipFill>
          <a:blip r:embed="rId4"/>
          <a:stretch>
            <a:fillRect/>
          </a:stretch>
        </p:blipFill>
        <p:spPr>
          <a:xfrm>
            <a:off x="10744200" y="6327648"/>
            <a:ext cx="908747" cy="384048"/>
          </a:xfrm>
          <a:prstGeom prst="rect">
            <a:avLst/>
          </a:prstGeom>
        </p:spPr>
      </p:pic>
      <p:sp>
        <p:nvSpPr>
          <p:cNvPr id="12" name="TextBox 11"/>
          <p:cNvSpPr txBox="1"/>
          <p:nvPr/>
        </p:nvSpPr>
        <p:spPr>
          <a:xfrm>
            <a:off x="548640" y="6400800"/>
            <a:ext cx="5486400" cy="274320"/>
          </a:xfrm>
          <a:prstGeom prst="rect">
            <a:avLst/>
          </a:prstGeom>
          <a:noFill/>
        </p:spPr>
        <p:txBody>
          <a:bodyPr wrap="square" anchor="t" lIns="45720" rIns="45720">
            <a:spAutoFit/>
          </a:bodyPr>
          <a:lstStyle/>
          <a:p>
            <a:pPr algn="l">
              <a:lnSpc>
                <a:spcPct val="110000"/>
              </a:lnSpc>
            </a:pPr>
            <a:r>
              <a:rPr sz="1100" b="0" i="0">
                <a:solidFill>
                  <a:srgbClr val="5B6578"/>
                </a:solidFill>
                <a:latin typeface="Arial"/>
              </a:rPr>
              <a:t>RoboTokens  ·  Vision is not enough</a:t>
            </a:r>
          </a:p>
        </p:txBody>
      </p:sp>
      <p:sp>
        <p:nvSpPr>
          <p:cNvPr id="13" name="TextBox 12"/>
          <p:cNvSpPr txBox="1"/>
          <p:nvPr/>
        </p:nvSpPr>
        <p:spPr>
          <a:xfrm>
            <a:off x="9966960" y="6400800"/>
            <a:ext cx="640080" cy="274320"/>
          </a:xfrm>
          <a:prstGeom prst="rect">
            <a:avLst/>
          </a:prstGeom>
          <a:noFill/>
        </p:spPr>
        <p:txBody>
          <a:bodyPr wrap="square" anchor="t" lIns="45720" rIns="45720">
            <a:spAutoFit/>
          </a:bodyPr>
          <a:lstStyle/>
          <a:p>
            <a:pPr algn="r">
              <a:lnSpc>
                <a:spcPct val="110000"/>
              </a:lnSpc>
            </a:pPr>
            <a:r>
              <a:rPr sz="1100" b="0" i="0">
                <a:solidFill>
                  <a:srgbClr val="5B657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3D8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28600"/>
            <a:ext cx="10058400" cy="320040"/>
          </a:xfrm>
          <a:prstGeom prst="rect">
            <a:avLst/>
          </a:prstGeom>
          <a:noFill/>
        </p:spPr>
        <p:txBody>
          <a:bodyPr wrap="square" anchor="t" lIns="45720" rIns="45720">
            <a:spAutoFit/>
          </a:bodyPr>
          <a:lstStyle/>
          <a:p>
            <a:pPr algn="l">
              <a:lnSpc>
                <a:spcPct val="110000"/>
              </a:lnSpc>
            </a:pPr>
            <a:r>
              <a:rPr sz="1200" b="1" i="0">
                <a:solidFill>
                  <a:srgbClr val="3D8F8C"/>
                </a:solidFill>
                <a:latin typeface="Arial"/>
              </a:rPr>
              <a:t>OUR IDEA</a:t>
            </a:r>
          </a:p>
        </p:txBody>
      </p:sp>
      <p:sp>
        <p:nvSpPr>
          <p:cNvPr id="4" name="TextBox 3"/>
          <p:cNvSpPr txBox="1"/>
          <p:nvPr/>
        </p:nvSpPr>
        <p:spPr>
          <a:xfrm>
            <a:off x="777240" y="429768"/>
            <a:ext cx="10789920" cy="731520"/>
          </a:xfrm>
          <a:prstGeom prst="rect">
            <a:avLst/>
          </a:prstGeom>
          <a:noFill/>
        </p:spPr>
        <p:txBody>
          <a:bodyPr wrap="square" anchor="t" lIns="45720" rIns="45720">
            <a:spAutoFit/>
          </a:bodyPr>
          <a:lstStyle/>
          <a:p>
            <a:pPr algn="l">
              <a:lnSpc>
                <a:spcPct val="110000"/>
              </a:lnSpc>
            </a:pPr>
            <a:r>
              <a:rPr sz="3400" b="1" i="0">
                <a:solidFill>
                  <a:srgbClr val="16294A"/>
                </a:solidFill>
                <a:latin typeface="Arial"/>
              </a:rPr>
              <a:t>The arm is the sensor.</a:t>
            </a:r>
          </a:p>
        </p:txBody>
      </p:sp>
      <p:pic>
        <p:nvPicPr>
          <p:cNvPr id="5" name="Picture 4" descr="still_36.jpg"/>
          <p:cNvPicPr>
            <a:picLocks noChangeAspect="1"/>
          </p:cNvPicPr>
          <p:nvPr/>
        </p:nvPicPr>
        <p:blipFill>
          <a:blip r:embed="rId3"/>
          <a:srcRect l="45833" r="10417"/>
          <a:stretch>
            <a:fillRect/>
          </a:stretch>
        </p:blipFill>
        <p:spPr>
          <a:xfrm>
            <a:off x="548640" y="1701437"/>
            <a:ext cx="3291840" cy="4232365"/>
          </a:xfrm>
          <a:prstGeom prst="rect">
            <a:avLst/>
          </a:prstGeom>
        </p:spPr>
      </p:pic>
      <p:sp>
        <p:nvSpPr>
          <p:cNvPr id="6" name="Pentagon 5"/>
          <p:cNvSpPr/>
          <p:nvPr/>
        </p:nvSpPr>
        <p:spPr>
          <a:xfrm>
            <a:off x="4251960" y="1600200"/>
            <a:ext cx="2606040" cy="1325880"/>
          </a:xfrm>
          <a:prstGeom prst="homePlate">
            <a:avLst/>
          </a:prstGeom>
          <a:solidFill>
            <a:srgbClr val="3D8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600200"/>
            <a:ext cx="2011680" cy="1325880"/>
          </a:xfrm>
          <a:prstGeom prst="rect">
            <a:avLst/>
          </a:prstGeom>
          <a:noFill/>
        </p:spPr>
        <p:txBody>
          <a:bodyPr wrap="square" anchor="ctr" lIns="45720" rIns="45720">
            <a:spAutoFit/>
          </a:bodyPr>
          <a:lstStyle/>
          <a:p>
            <a:pPr algn="l">
              <a:lnSpc>
                <a:spcPct val="100000"/>
              </a:lnSpc>
            </a:pPr>
            <a:r>
              <a:rPr sz="2400" b="1" i="0">
                <a:solidFill>
                  <a:srgbClr val="FFFFFF"/>
                </a:solidFill>
                <a:latin typeface="Arial"/>
              </a:rPr>
              <a:t>Lift</a:t>
            </a:r>
          </a:p>
          <a:p>
            <a:pPr algn="l">
              <a:lnSpc>
                <a:spcPct val="100000"/>
              </a:lnSpc>
            </a:pPr>
            <a:r>
              <a:rPr sz="1500" b="0" i="0">
                <a:solidFill>
                  <a:srgbClr val="FFFFFF"/>
                </a:solidFill>
                <a:latin typeface="Arial"/>
              </a:rPr>
              <a:t>the object</a:t>
            </a:r>
          </a:p>
        </p:txBody>
      </p:sp>
      <p:sp>
        <p:nvSpPr>
          <p:cNvPr id="8" name="Chevron 7"/>
          <p:cNvSpPr/>
          <p:nvPr/>
        </p:nvSpPr>
        <p:spPr>
          <a:xfrm>
            <a:off x="6766560" y="1600200"/>
            <a:ext cx="2606040" cy="1325880"/>
          </a:xfrm>
          <a:prstGeom prst="chevron">
            <a:avLst/>
          </a:prstGeom>
          <a:solidFill>
            <a:srgbClr val="2F6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79792" y="1600200"/>
            <a:ext cx="1691640" cy="1325880"/>
          </a:xfrm>
          <a:prstGeom prst="rect">
            <a:avLst/>
          </a:prstGeom>
          <a:noFill/>
        </p:spPr>
        <p:txBody>
          <a:bodyPr wrap="square" anchor="ctr" lIns="45720" rIns="45720">
            <a:spAutoFit/>
          </a:bodyPr>
          <a:lstStyle/>
          <a:p>
            <a:pPr algn="l">
              <a:lnSpc>
                <a:spcPct val="100000"/>
              </a:lnSpc>
            </a:pPr>
            <a:r>
              <a:rPr sz="2400" b="1" i="0">
                <a:solidFill>
                  <a:srgbClr val="FFFFFF"/>
                </a:solidFill>
                <a:latin typeface="Arial"/>
              </a:rPr>
              <a:t>Read</a:t>
            </a:r>
          </a:p>
          <a:p>
            <a:pPr algn="l">
              <a:lnSpc>
                <a:spcPct val="100000"/>
              </a:lnSpc>
            </a:pPr>
            <a:r>
              <a:rPr sz="1500" b="0" i="0">
                <a:solidFill>
                  <a:srgbClr val="FFFFFF"/>
                </a:solidFill>
                <a:latin typeface="Arial"/>
              </a:rPr>
              <a:t>the joint torques</a:t>
            </a:r>
          </a:p>
        </p:txBody>
      </p:sp>
      <p:sp>
        <p:nvSpPr>
          <p:cNvPr id="10" name="Chevron 9"/>
          <p:cNvSpPr/>
          <p:nvPr/>
        </p:nvSpPr>
        <p:spPr>
          <a:xfrm>
            <a:off x="9281160" y="1600200"/>
            <a:ext cx="2606040" cy="1325880"/>
          </a:xfrm>
          <a:prstGeom prst="chevron">
            <a:avLst/>
          </a:prstGeom>
          <a:solidFill>
            <a:srgbClr val="E2A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94392" y="1600200"/>
            <a:ext cx="1691640" cy="1325880"/>
          </a:xfrm>
          <a:prstGeom prst="rect">
            <a:avLst/>
          </a:prstGeom>
          <a:noFill/>
        </p:spPr>
        <p:txBody>
          <a:bodyPr wrap="square" anchor="ctr" lIns="45720" rIns="45720">
            <a:spAutoFit/>
          </a:bodyPr>
          <a:lstStyle/>
          <a:p>
            <a:pPr algn="l">
              <a:lnSpc>
                <a:spcPct val="100000"/>
              </a:lnSpc>
            </a:pPr>
            <a:r>
              <a:rPr sz="2400" b="1" i="0">
                <a:solidFill>
                  <a:srgbClr val="FFFFFF"/>
                </a:solidFill>
                <a:latin typeface="Arial"/>
              </a:rPr>
              <a:t>Estimate</a:t>
            </a:r>
          </a:p>
          <a:p>
            <a:pPr algn="l">
              <a:lnSpc>
                <a:spcPct val="100000"/>
              </a:lnSpc>
            </a:pPr>
            <a:r>
              <a:rPr sz="1500" b="0" i="0">
                <a:solidFill>
                  <a:srgbClr val="FFFFFF"/>
                </a:solidFill>
                <a:latin typeface="Arial"/>
              </a:rPr>
              <a:t>mass ± uncertainty</a:t>
            </a:r>
          </a:p>
        </p:txBody>
      </p:sp>
      <p:sp>
        <p:nvSpPr>
          <p:cNvPr id="12" name="TextBox 11"/>
          <p:cNvSpPr txBox="1"/>
          <p:nvPr/>
        </p:nvSpPr>
        <p:spPr>
          <a:xfrm>
            <a:off x="4251960" y="3200400"/>
            <a:ext cx="7498079" cy="1188720"/>
          </a:xfrm>
          <a:prstGeom prst="rect">
            <a:avLst/>
          </a:prstGeom>
          <a:noFill/>
        </p:spPr>
        <p:txBody>
          <a:bodyPr wrap="square" anchor="t" lIns="45720" rIns="45720">
            <a:spAutoFit/>
          </a:bodyPr>
          <a:lstStyle/>
          <a:p>
            <a:pPr algn="l">
              <a:lnSpc>
                <a:spcPct val="120000"/>
              </a:lnSpc>
            </a:pPr>
            <a:r>
              <a:rPr sz="1700" b="1" i="0">
                <a:solidFill>
                  <a:srgbClr val="16294A"/>
                </a:solidFill>
                <a:latin typeface="Arial"/>
              </a:rPr>
              <a:t>How: </a:t>
            </a:r>
            <a:r>
              <a:rPr sz="1700" b="0" i="0">
                <a:solidFill>
                  <a:srgbClr val="16294A"/>
                </a:solidFill>
                <a:latin typeface="Arial"/>
              </a:rPr>
              <a:t>a mass m at the hand adds  J</a:t>
            </a:r>
            <a:r>
              <a:rPr sz="1300" b="0" i="0">
                <a:solidFill>
                  <a:srgbClr val="16294A"/>
                </a:solidFill>
                <a:latin typeface="Arial"/>
              </a:rPr>
              <a:t>z</a:t>
            </a:r>
            <a:r>
              <a:rPr sz="1700" b="0" i="0">
                <a:solidFill>
                  <a:srgbClr val="16294A"/>
                </a:solidFill>
                <a:latin typeface="Arial"/>
              </a:rPr>
              <a:t>(q) · m · g  to the joint torques. A 1° dither cancels friction; least squares gives m and its standard error.</a:t>
            </a:r>
          </a:p>
        </p:txBody>
      </p:sp>
      <p:sp>
        <p:nvSpPr>
          <p:cNvPr id="13" name="Rounded Rectangle 12"/>
          <p:cNvSpPr/>
          <p:nvPr/>
        </p:nvSpPr>
        <p:spPr>
          <a:xfrm>
            <a:off x="4251960" y="4526280"/>
            <a:ext cx="2377440" cy="1508760"/>
          </a:xfrm>
          <a:prstGeom prst="roundRect">
            <a:avLst>
              <a:gd name="adj" fmla="val 8000"/>
            </a:avLst>
          </a:prstGeom>
          <a:solidFill>
            <a:srgbClr val="FFFFFF"/>
          </a:solidFill>
          <a:ln w="1270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4617720"/>
            <a:ext cx="2103120" cy="1371600"/>
          </a:xfrm>
          <a:prstGeom prst="rect">
            <a:avLst/>
          </a:prstGeom>
          <a:noFill/>
        </p:spPr>
        <p:txBody>
          <a:bodyPr wrap="square" anchor="t" lIns="45720" rIns="45720">
            <a:spAutoFit/>
          </a:bodyPr>
          <a:lstStyle/>
          <a:p>
            <a:pPr algn="l">
              <a:lnSpc>
                <a:spcPct val="115000"/>
              </a:lnSpc>
            </a:pPr>
            <a:r>
              <a:rPr sz="1800" b="1" i="0">
                <a:solidFill>
                  <a:srgbClr val="3D8F8C"/>
                </a:solidFill>
                <a:latin typeface="Arial"/>
              </a:rPr>
              <a:t>No load cell</a:t>
            </a:r>
          </a:p>
          <a:p>
            <a:pPr algn="l">
              <a:lnSpc>
                <a:spcPct val="115000"/>
              </a:lnSpc>
            </a:pPr>
            <a:r>
              <a:rPr sz="1400" b="0" i="0">
                <a:solidFill>
                  <a:srgbClr val="16294A"/>
                </a:solidFill>
                <a:latin typeface="Arial"/>
              </a:rPr>
              <a:t>uses the torques the motors already report</a:t>
            </a:r>
          </a:p>
        </p:txBody>
      </p:sp>
      <p:sp>
        <p:nvSpPr>
          <p:cNvPr id="15" name="Rounded Rectangle 14"/>
          <p:cNvSpPr/>
          <p:nvPr/>
        </p:nvSpPr>
        <p:spPr>
          <a:xfrm>
            <a:off x="6793992" y="4526280"/>
            <a:ext cx="2377440" cy="1508760"/>
          </a:xfrm>
          <a:prstGeom prst="roundRect">
            <a:avLst>
              <a:gd name="adj" fmla="val 8000"/>
            </a:avLst>
          </a:prstGeom>
          <a:solidFill>
            <a:srgbClr val="FFFFFF"/>
          </a:solidFill>
          <a:ln w="1270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4617720"/>
            <a:ext cx="2103120" cy="1371600"/>
          </a:xfrm>
          <a:prstGeom prst="rect">
            <a:avLst/>
          </a:prstGeom>
          <a:noFill/>
        </p:spPr>
        <p:txBody>
          <a:bodyPr wrap="square" anchor="t" lIns="45720" rIns="45720">
            <a:spAutoFit/>
          </a:bodyPr>
          <a:lstStyle/>
          <a:p>
            <a:pPr algn="l">
              <a:lnSpc>
                <a:spcPct val="115000"/>
              </a:lnSpc>
            </a:pPr>
            <a:r>
              <a:rPr sz="1800" b="1" i="0">
                <a:solidFill>
                  <a:srgbClr val="3D8F8C"/>
                </a:solidFill>
                <a:latin typeface="Arial"/>
              </a:rPr>
              <a:t>No wrist sensor</a:t>
            </a:r>
          </a:p>
          <a:p>
            <a:pPr algn="l">
              <a:lnSpc>
                <a:spcPct val="115000"/>
              </a:lnSpc>
            </a:pPr>
            <a:r>
              <a:rPr sz="1400" b="0" i="0">
                <a:solidFill>
                  <a:srgbClr val="16294A"/>
                </a:solidFill>
                <a:latin typeface="Arial"/>
              </a:rPr>
              <a:t>no added hardware on the arm</a:t>
            </a:r>
          </a:p>
        </p:txBody>
      </p:sp>
      <p:sp>
        <p:nvSpPr>
          <p:cNvPr id="17" name="Rounded Rectangle 16"/>
          <p:cNvSpPr/>
          <p:nvPr/>
        </p:nvSpPr>
        <p:spPr>
          <a:xfrm>
            <a:off x="9336024" y="4526280"/>
            <a:ext cx="2377440" cy="1508760"/>
          </a:xfrm>
          <a:prstGeom prst="roundRect">
            <a:avLst>
              <a:gd name="adj" fmla="val 8000"/>
            </a:avLst>
          </a:prstGeom>
          <a:solidFill>
            <a:srgbClr val="FFFFFF"/>
          </a:solidFill>
          <a:ln w="1270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73184" y="4617720"/>
            <a:ext cx="2103120" cy="1371600"/>
          </a:xfrm>
          <a:prstGeom prst="rect">
            <a:avLst/>
          </a:prstGeom>
          <a:noFill/>
        </p:spPr>
        <p:txBody>
          <a:bodyPr wrap="square" anchor="t" lIns="45720" rIns="45720">
            <a:spAutoFit/>
          </a:bodyPr>
          <a:lstStyle/>
          <a:p>
            <a:pPr algn="l">
              <a:lnSpc>
                <a:spcPct val="115000"/>
              </a:lnSpc>
            </a:pPr>
            <a:r>
              <a:rPr sz="1800" b="1" i="0">
                <a:solidFill>
                  <a:srgbClr val="3D8F8C"/>
                </a:solidFill>
                <a:latin typeface="Arial"/>
              </a:rPr>
              <a:t>Software only</a:t>
            </a:r>
          </a:p>
          <a:p>
            <a:pPr algn="l">
              <a:lnSpc>
                <a:spcPct val="115000"/>
              </a:lnSpc>
            </a:pPr>
            <a:r>
              <a:rPr sz="1400" b="0" i="0">
                <a:solidFill>
                  <a:srgbClr val="16294A"/>
                </a:solidFill>
                <a:latin typeface="Arial"/>
              </a:rPr>
              <a:t>a layer on top of the vision pipeline</a:t>
            </a:r>
          </a:p>
        </p:txBody>
      </p:sp>
      <p:pic>
        <p:nvPicPr>
          <p:cNvPr id="19" name="Picture 18" descr="logo.png"/>
          <p:cNvPicPr>
            <a:picLocks noChangeAspect="1"/>
          </p:cNvPicPr>
          <p:nvPr/>
        </p:nvPicPr>
        <p:blipFill>
          <a:blip r:embed="rId4"/>
          <a:stretch>
            <a:fillRect/>
          </a:stretch>
        </p:blipFill>
        <p:spPr>
          <a:xfrm>
            <a:off x="10744200" y="6327648"/>
            <a:ext cx="908747" cy="384048"/>
          </a:xfrm>
          <a:prstGeom prst="rect">
            <a:avLst/>
          </a:prstGeom>
        </p:spPr>
      </p:pic>
      <p:sp>
        <p:nvSpPr>
          <p:cNvPr id="20" name="TextBox 19"/>
          <p:cNvSpPr txBox="1"/>
          <p:nvPr/>
        </p:nvSpPr>
        <p:spPr>
          <a:xfrm>
            <a:off x="548640" y="6400800"/>
            <a:ext cx="5486400" cy="274320"/>
          </a:xfrm>
          <a:prstGeom prst="rect">
            <a:avLst/>
          </a:prstGeom>
          <a:noFill/>
        </p:spPr>
        <p:txBody>
          <a:bodyPr wrap="square" anchor="t" lIns="45720" rIns="45720">
            <a:spAutoFit/>
          </a:bodyPr>
          <a:lstStyle/>
          <a:p>
            <a:pPr algn="l">
              <a:lnSpc>
                <a:spcPct val="110000"/>
              </a:lnSpc>
            </a:pPr>
            <a:r>
              <a:rPr sz="1100" b="0" i="0">
                <a:solidFill>
                  <a:srgbClr val="5B6578"/>
                </a:solidFill>
                <a:latin typeface="Arial"/>
              </a:rPr>
              <a:t>RoboTokens  ·  Vision is not enough</a:t>
            </a:r>
          </a:p>
        </p:txBody>
      </p:sp>
      <p:sp>
        <p:nvSpPr>
          <p:cNvPr id="21" name="TextBox 20"/>
          <p:cNvSpPr txBox="1"/>
          <p:nvPr/>
        </p:nvSpPr>
        <p:spPr>
          <a:xfrm>
            <a:off x="9966960" y="6400800"/>
            <a:ext cx="640080" cy="274320"/>
          </a:xfrm>
          <a:prstGeom prst="rect">
            <a:avLst/>
          </a:prstGeom>
          <a:noFill/>
        </p:spPr>
        <p:txBody>
          <a:bodyPr wrap="square" anchor="t" lIns="45720" rIns="45720">
            <a:spAutoFit/>
          </a:bodyPr>
          <a:lstStyle/>
          <a:p>
            <a:pPr algn="r">
              <a:lnSpc>
                <a:spcPct val="110000"/>
              </a:lnSpc>
            </a:pPr>
            <a:r>
              <a:rPr sz="1100" b="0" i="0">
                <a:solidFill>
                  <a:srgbClr val="5B657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3D8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28600"/>
            <a:ext cx="10058400" cy="320040"/>
          </a:xfrm>
          <a:prstGeom prst="rect">
            <a:avLst/>
          </a:prstGeom>
          <a:noFill/>
        </p:spPr>
        <p:txBody>
          <a:bodyPr wrap="square" anchor="t" lIns="45720" rIns="45720">
            <a:spAutoFit/>
          </a:bodyPr>
          <a:lstStyle/>
          <a:p>
            <a:pPr algn="l">
              <a:lnSpc>
                <a:spcPct val="110000"/>
              </a:lnSpc>
            </a:pPr>
            <a:r>
              <a:rPr sz="1200" b="1" i="0">
                <a:solidFill>
                  <a:srgbClr val="3D8F8C"/>
                </a:solidFill>
                <a:latin typeface="Arial"/>
              </a:rPr>
              <a:t>LIVE</a:t>
            </a:r>
          </a:p>
        </p:txBody>
      </p:sp>
      <p:sp>
        <p:nvSpPr>
          <p:cNvPr id="4" name="TextBox 3"/>
          <p:cNvSpPr txBox="1"/>
          <p:nvPr/>
        </p:nvSpPr>
        <p:spPr>
          <a:xfrm>
            <a:off x="777240" y="429768"/>
            <a:ext cx="10789920" cy="731520"/>
          </a:xfrm>
          <a:prstGeom prst="rect">
            <a:avLst/>
          </a:prstGeom>
          <a:noFill/>
        </p:spPr>
        <p:txBody>
          <a:bodyPr wrap="square" anchor="t" lIns="45720" rIns="45720">
            <a:spAutoFit/>
          </a:bodyPr>
          <a:lstStyle/>
          <a:p>
            <a:pPr algn="l">
              <a:lnSpc>
                <a:spcPct val="110000"/>
              </a:lnSpc>
            </a:pPr>
            <a:r>
              <a:rPr sz="3400" b="1" i="0">
                <a:solidFill>
                  <a:srgbClr val="16294A"/>
                </a:solidFill>
                <a:latin typeface="Arial"/>
              </a:rPr>
              <a:t>Demo: “Give me the heavy can.”</a:t>
            </a:r>
          </a:p>
        </p:txBody>
      </p:sp>
      <p:sp>
        <p:nvSpPr>
          <p:cNvPr id="5" name="Oval 4"/>
          <p:cNvSpPr/>
          <p:nvPr/>
        </p:nvSpPr>
        <p:spPr>
          <a:xfrm>
            <a:off x="548640" y="1517904"/>
            <a:ext cx="640080" cy="640080"/>
          </a:xfrm>
          <a:prstGeom prst="ellipse">
            <a:avLst/>
          </a:prstGeom>
          <a:solidFill>
            <a:srgbClr val="3D8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17904"/>
            <a:ext cx="640080" cy="640080"/>
          </a:xfrm>
          <a:prstGeom prst="rect">
            <a:avLst/>
          </a:prstGeom>
          <a:noFill/>
        </p:spPr>
        <p:txBody>
          <a:bodyPr wrap="square" anchor="ctr" lIns="45720" rIns="45720">
            <a:spAutoFit/>
          </a:bodyPr>
          <a:lstStyle/>
          <a:p>
            <a:pPr algn="ctr">
              <a:lnSpc>
                <a:spcPct val="110000"/>
              </a:lnSpc>
            </a:pPr>
            <a:r>
              <a:rPr sz="2000" b="1" i="0">
                <a:solidFill>
                  <a:srgbClr val="FFFFFF"/>
                </a:solidFill>
                <a:latin typeface="Arial"/>
              </a:rPr>
              <a:t>1</a:t>
            </a:r>
          </a:p>
        </p:txBody>
      </p:sp>
      <p:sp>
        <p:nvSpPr>
          <p:cNvPr id="7" name="TextBox 6"/>
          <p:cNvSpPr txBox="1"/>
          <p:nvPr/>
        </p:nvSpPr>
        <p:spPr>
          <a:xfrm>
            <a:off x="1325880" y="1444752"/>
            <a:ext cx="4343400" cy="822960"/>
          </a:xfrm>
          <a:prstGeom prst="rect">
            <a:avLst/>
          </a:prstGeom>
          <a:noFill/>
        </p:spPr>
        <p:txBody>
          <a:bodyPr wrap="square" anchor="ctr" lIns="45720" rIns="45720">
            <a:spAutoFit/>
          </a:bodyPr>
          <a:lstStyle/>
          <a:p>
            <a:pPr algn="l">
              <a:lnSpc>
                <a:spcPct val="105000"/>
              </a:lnSpc>
            </a:pPr>
            <a:r>
              <a:rPr sz="1900" b="1" i="0">
                <a:solidFill>
                  <a:srgbClr val="16294A"/>
                </a:solidFill>
                <a:latin typeface="Arial"/>
              </a:rPr>
              <a:t>See</a:t>
            </a:r>
          </a:p>
          <a:p>
            <a:pPr algn="l">
              <a:lnSpc>
                <a:spcPct val="105000"/>
              </a:lnSpc>
            </a:pPr>
            <a:r>
              <a:rPr sz="1350" b="0" i="0">
                <a:solidFill>
                  <a:srgbClr val="5B6578"/>
                </a:solidFill>
                <a:latin typeface="Arial"/>
              </a:rPr>
              <a:t>GroundingDINO + SAM2 find the two cans from the sentence</a:t>
            </a:r>
          </a:p>
        </p:txBody>
      </p:sp>
      <p:sp>
        <p:nvSpPr>
          <p:cNvPr id="8" name="Oval 7"/>
          <p:cNvSpPr/>
          <p:nvPr/>
        </p:nvSpPr>
        <p:spPr>
          <a:xfrm>
            <a:off x="548640" y="2459736"/>
            <a:ext cx="640080" cy="640080"/>
          </a:xfrm>
          <a:prstGeom prst="ellipse">
            <a:avLst/>
          </a:prstGeom>
          <a:solidFill>
            <a:srgbClr val="2F6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459736"/>
            <a:ext cx="640080" cy="640080"/>
          </a:xfrm>
          <a:prstGeom prst="rect">
            <a:avLst/>
          </a:prstGeom>
          <a:noFill/>
        </p:spPr>
        <p:txBody>
          <a:bodyPr wrap="square" anchor="ctr" lIns="45720" rIns="45720">
            <a:spAutoFit/>
          </a:bodyPr>
          <a:lstStyle/>
          <a:p>
            <a:pPr algn="ctr">
              <a:lnSpc>
                <a:spcPct val="110000"/>
              </a:lnSpc>
            </a:pPr>
            <a:r>
              <a:rPr sz="2000" b="1" i="0">
                <a:solidFill>
                  <a:srgbClr val="FFFFFF"/>
                </a:solidFill>
                <a:latin typeface="Arial"/>
              </a:rPr>
              <a:t>2</a:t>
            </a:r>
          </a:p>
        </p:txBody>
      </p:sp>
      <p:sp>
        <p:nvSpPr>
          <p:cNvPr id="10" name="TextBox 9"/>
          <p:cNvSpPr txBox="1"/>
          <p:nvPr/>
        </p:nvSpPr>
        <p:spPr>
          <a:xfrm>
            <a:off x="1325880" y="2386584"/>
            <a:ext cx="4343400" cy="822960"/>
          </a:xfrm>
          <a:prstGeom prst="rect">
            <a:avLst/>
          </a:prstGeom>
          <a:noFill/>
        </p:spPr>
        <p:txBody>
          <a:bodyPr wrap="square" anchor="ctr" lIns="45720" rIns="45720">
            <a:spAutoFit/>
          </a:bodyPr>
          <a:lstStyle/>
          <a:p>
            <a:pPr algn="l">
              <a:lnSpc>
                <a:spcPct val="105000"/>
              </a:lnSpc>
            </a:pPr>
            <a:r>
              <a:rPr sz="1900" b="1" i="0">
                <a:solidFill>
                  <a:srgbClr val="16294A"/>
                </a:solidFill>
                <a:latin typeface="Arial"/>
              </a:rPr>
              <a:t>Weigh</a:t>
            </a:r>
          </a:p>
          <a:p>
            <a:pPr algn="l">
              <a:lnSpc>
                <a:spcPct val="105000"/>
              </a:lnSpc>
            </a:pPr>
            <a:r>
              <a:rPr sz="1350" b="0" i="0">
                <a:solidFill>
                  <a:srgbClr val="5B6578"/>
                </a:solidFill>
                <a:latin typeface="Arial"/>
              </a:rPr>
              <a:t>lift each can, mass from the joint torques</a:t>
            </a:r>
          </a:p>
        </p:txBody>
      </p:sp>
      <p:sp>
        <p:nvSpPr>
          <p:cNvPr id="11" name="Oval 10"/>
          <p:cNvSpPr/>
          <p:nvPr/>
        </p:nvSpPr>
        <p:spPr>
          <a:xfrm>
            <a:off x="548640" y="3401568"/>
            <a:ext cx="640080" cy="640080"/>
          </a:xfrm>
          <a:prstGeom prst="ellipse">
            <a:avLst/>
          </a:prstGeom>
          <a:solidFill>
            <a:srgbClr val="E2A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401568"/>
            <a:ext cx="640080" cy="640080"/>
          </a:xfrm>
          <a:prstGeom prst="rect">
            <a:avLst/>
          </a:prstGeom>
          <a:noFill/>
        </p:spPr>
        <p:txBody>
          <a:bodyPr wrap="square" anchor="ctr" lIns="45720" rIns="45720">
            <a:spAutoFit/>
          </a:bodyPr>
          <a:lstStyle/>
          <a:p>
            <a:pPr algn="ctr">
              <a:lnSpc>
                <a:spcPct val="110000"/>
              </a:lnSpc>
            </a:pPr>
            <a:r>
              <a:rPr sz="2000" b="1" i="0">
                <a:solidFill>
                  <a:srgbClr val="FFFFFF"/>
                </a:solidFill>
                <a:latin typeface="Arial"/>
              </a:rPr>
              <a:t>3</a:t>
            </a:r>
          </a:p>
        </p:txBody>
      </p:sp>
      <p:sp>
        <p:nvSpPr>
          <p:cNvPr id="13" name="TextBox 12"/>
          <p:cNvSpPr txBox="1"/>
          <p:nvPr/>
        </p:nvSpPr>
        <p:spPr>
          <a:xfrm>
            <a:off x="1325880" y="3328416"/>
            <a:ext cx="4343400" cy="822960"/>
          </a:xfrm>
          <a:prstGeom prst="rect">
            <a:avLst/>
          </a:prstGeom>
          <a:noFill/>
        </p:spPr>
        <p:txBody>
          <a:bodyPr wrap="square" anchor="ctr" lIns="45720" rIns="45720">
            <a:spAutoFit/>
          </a:bodyPr>
          <a:lstStyle/>
          <a:p>
            <a:pPr algn="l">
              <a:lnSpc>
                <a:spcPct val="105000"/>
              </a:lnSpc>
            </a:pPr>
            <a:r>
              <a:rPr sz="1900" b="1" i="0">
                <a:solidFill>
                  <a:srgbClr val="16294A"/>
                </a:solidFill>
                <a:latin typeface="Arial"/>
              </a:rPr>
              <a:t>Decide</a:t>
            </a:r>
          </a:p>
          <a:p>
            <a:pPr algn="l">
              <a:lnSpc>
                <a:spcPct val="105000"/>
              </a:lnSpc>
            </a:pPr>
            <a:r>
              <a:rPr sz="1350" b="0" i="0">
                <a:solidFill>
                  <a:srgbClr val="5B6578"/>
                </a:solidFill>
                <a:latin typeface="Arial"/>
              </a:rPr>
              <a:t>act only if  z = Δm / SE ≥ 3;  else re-measure, else refuse to guess</a:t>
            </a:r>
          </a:p>
        </p:txBody>
      </p:sp>
      <p:sp>
        <p:nvSpPr>
          <p:cNvPr id="14" name="Oval 13"/>
          <p:cNvSpPr/>
          <p:nvPr/>
        </p:nvSpPr>
        <p:spPr>
          <a:xfrm>
            <a:off x="548640" y="4343399"/>
            <a:ext cx="640080" cy="640080"/>
          </a:xfrm>
          <a:prstGeom prst="ellipse">
            <a:avLst/>
          </a:prstGeom>
          <a:solidFill>
            <a:srgbClr val="3D8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343399"/>
            <a:ext cx="640080" cy="640080"/>
          </a:xfrm>
          <a:prstGeom prst="rect">
            <a:avLst/>
          </a:prstGeom>
          <a:noFill/>
        </p:spPr>
        <p:txBody>
          <a:bodyPr wrap="square" anchor="ctr" lIns="45720" rIns="45720">
            <a:spAutoFit/>
          </a:bodyPr>
          <a:lstStyle/>
          <a:p>
            <a:pPr algn="ctr">
              <a:lnSpc>
                <a:spcPct val="110000"/>
              </a:lnSpc>
            </a:pPr>
            <a:r>
              <a:rPr sz="2000" b="1" i="0">
                <a:solidFill>
                  <a:srgbClr val="FFFFFF"/>
                </a:solidFill>
                <a:latin typeface="Arial"/>
              </a:rPr>
              <a:t>4</a:t>
            </a:r>
          </a:p>
        </p:txBody>
      </p:sp>
      <p:sp>
        <p:nvSpPr>
          <p:cNvPr id="16" name="TextBox 15"/>
          <p:cNvSpPr txBox="1"/>
          <p:nvPr/>
        </p:nvSpPr>
        <p:spPr>
          <a:xfrm>
            <a:off x="1325880" y="4270248"/>
            <a:ext cx="4343400" cy="822960"/>
          </a:xfrm>
          <a:prstGeom prst="rect">
            <a:avLst/>
          </a:prstGeom>
          <a:noFill/>
        </p:spPr>
        <p:txBody>
          <a:bodyPr wrap="square" anchor="ctr" lIns="45720" rIns="45720">
            <a:spAutoFit/>
          </a:bodyPr>
          <a:lstStyle/>
          <a:p>
            <a:pPr algn="l">
              <a:lnSpc>
                <a:spcPct val="105000"/>
              </a:lnSpc>
            </a:pPr>
            <a:r>
              <a:rPr sz="1900" b="1" i="0">
                <a:solidFill>
                  <a:srgbClr val="16294A"/>
                </a:solidFill>
                <a:latin typeface="Arial"/>
              </a:rPr>
              <a:t>Hand over</a:t>
            </a:r>
          </a:p>
          <a:p>
            <a:pPr algn="l">
              <a:lnSpc>
                <a:spcPct val="105000"/>
              </a:lnSpc>
            </a:pPr>
            <a:r>
              <a:rPr sz="1350" b="0" i="0">
                <a:solidFill>
                  <a:srgbClr val="5B6578"/>
                </a:solidFill>
                <a:latin typeface="Arial"/>
              </a:rPr>
              <a:t>carry the heavy can to the person</a:t>
            </a:r>
          </a:p>
        </p:txBody>
      </p:sp>
      <p:sp>
        <p:nvSpPr>
          <p:cNvPr id="17" name="Oval 16"/>
          <p:cNvSpPr/>
          <p:nvPr/>
        </p:nvSpPr>
        <p:spPr>
          <a:xfrm>
            <a:off x="548640" y="5285232"/>
            <a:ext cx="640080" cy="640080"/>
          </a:xfrm>
          <a:prstGeom prst="ellipse">
            <a:avLst/>
          </a:prstGeom>
          <a:solidFill>
            <a:srgbClr val="2A9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285232"/>
            <a:ext cx="640080" cy="640080"/>
          </a:xfrm>
          <a:prstGeom prst="rect">
            <a:avLst/>
          </a:prstGeom>
          <a:noFill/>
        </p:spPr>
        <p:txBody>
          <a:bodyPr wrap="square" anchor="ctr" lIns="45720" rIns="45720">
            <a:spAutoFit/>
          </a:bodyPr>
          <a:lstStyle/>
          <a:p>
            <a:pPr algn="ctr">
              <a:lnSpc>
                <a:spcPct val="110000"/>
              </a:lnSpc>
            </a:pPr>
            <a:r>
              <a:rPr sz="2000" b="1" i="0">
                <a:solidFill>
                  <a:srgbClr val="FFFFFF"/>
                </a:solidFill>
                <a:latin typeface="Arial"/>
              </a:rPr>
              <a:t>5</a:t>
            </a:r>
          </a:p>
        </p:txBody>
      </p:sp>
      <p:sp>
        <p:nvSpPr>
          <p:cNvPr id="19" name="TextBox 18"/>
          <p:cNvSpPr txBox="1"/>
          <p:nvPr/>
        </p:nvSpPr>
        <p:spPr>
          <a:xfrm>
            <a:off x="1325880" y="5212080"/>
            <a:ext cx="4343400" cy="822960"/>
          </a:xfrm>
          <a:prstGeom prst="rect">
            <a:avLst/>
          </a:prstGeom>
          <a:noFill/>
        </p:spPr>
        <p:txBody>
          <a:bodyPr wrap="square" anchor="ctr" lIns="45720" rIns="45720">
            <a:spAutoFit/>
          </a:bodyPr>
          <a:lstStyle/>
          <a:p>
            <a:pPr algn="l">
              <a:lnSpc>
                <a:spcPct val="105000"/>
              </a:lnSpc>
            </a:pPr>
            <a:r>
              <a:rPr sz="1900" b="1" i="0">
                <a:solidFill>
                  <a:srgbClr val="16294A"/>
                </a:solidFill>
                <a:latin typeface="Arial"/>
              </a:rPr>
              <a:t>Release</a:t>
            </a:r>
          </a:p>
          <a:p>
            <a:pPr algn="l">
              <a:lnSpc>
                <a:spcPct val="105000"/>
              </a:lnSpc>
            </a:pPr>
            <a:r>
              <a:rPr sz="1350" b="0" i="0">
                <a:solidFill>
                  <a:srgbClr val="5B6578"/>
                </a:solidFill>
                <a:latin typeface="Arial"/>
              </a:rPr>
              <a:t>open the gripper only when contact is felt</a:t>
            </a:r>
          </a:p>
        </p:txBody>
      </p:sp>
      <p:pic>
        <p:nvPicPr>
          <p:cNvPr id="20" name="robot_demo_720p.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5897880" y="1600200"/>
            <a:ext cx="5760720" cy="3240404"/>
          </a:xfrm>
          <a:prstGeom prst="rect">
            <a:avLst/>
          </a:prstGeom>
        </p:spPr>
      </p:pic>
      <p:sp>
        <p:nvSpPr>
          <p:cNvPr id="21" name="TextBox 20"/>
          <p:cNvSpPr txBox="1"/>
          <p:nvPr/>
        </p:nvSpPr>
        <p:spPr>
          <a:xfrm>
            <a:off x="5897880" y="4950332"/>
            <a:ext cx="5760720" cy="548640"/>
          </a:xfrm>
          <a:prstGeom prst="rect">
            <a:avLst/>
          </a:prstGeom>
          <a:noFill/>
        </p:spPr>
        <p:txBody>
          <a:bodyPr wrap="square" anchor="t" lIns="45720" rIns="45720">
            <a:spAutoFit/>
          </a:bodyPr>
          <a:lstStyle/>
          <a:p>
            <a:pPr algn="ctr">
              <a:lnSpc>
                <a:spcPct val="110000"/>
              </a:lnSpc>
            </a:pPr>
            <a:r>
              <a:rPr sz="1250" b="1" i="0">
                <a:solidFill>
                  <a:srgbClr val="5B6578"/>
                </a:solidFill>
                <a:latin typeface="Arial"/>
              </a:rPr>
              <a:t>Real OpenArm v1: </a:t>
            </a:r>
            <a:r>
              <a:rPr sz="1250" b="0" i="0">
                <a:solidFill>
                  <a:srgbClr val="5B6578"/>
                </a:solidFill>
                <a:latin typeface="Arial"/>
              </a:rPr>
              <a:t>detecting, lifting and weighing two look-alike cans, with the MuJoCo twin on the laptop. Backup if the live run fails: click to play.</a:t>
            </a:r>
          </a:p>
        </p:txBody>
      </p:sp>
      <p:pic>
        <p:nvPicPr>
          <p:cNvPr id="22" name="Picture 21" descr="logo.png"/>
          <p:cNvPicPr>
            <a:picLocks noChangeAspect="1"/>
          </p:cNvPicPr>
          <p:nvPr/>
        </p:nvPicPr>
        <p:blipFill>
          <a:blip r:embed="rId6"/>
          <a:stretch>
            <a:fillRect/>
          </a:stretch>
        </p:blipFill>
        <p:spPr>
          <a:xfrm>
            <a:off x="10744200" y="6327648"/>
            <a:ext cx="908747" cy="384048"/>
          </a:xfrm>
          <a:prstGeom prst="rect">
            <a:avLst/>
          </a:prstGeom>
        </p:spPr>
      </p:pic>
      <p:sp>
        <p:nvSpPr>
          <p:cNvPr id="23" name="TextBox 22"/>
          <p:cNvSpPr txBox="1"/>
          <p:nvPr/>
        </p:nvSpPr>
        <p:spPr>
          <a:xfrm>
            <a:off x="548640" y="6400800"/>
            <a:ext cx="5486400" cy="274320"/>
          </a:xfrm>
          <a:prstGeom prst="rect">
            <a:avLst/>
          </a:prstGeom>
          <a:noFill/>
        </p:spPr>
        <p:txBody>
          <a:bodyPr wrap="square" anchor="t" lIns="45720" rIns="45720">
            <a:spAutoFit/>
          </a:bodyPr>
          <a:lstStyle/>
          <a:p>
            <a:pPr algn="l">
              <a:lnSpc>
                <a:spcPct val="110000"/>
              </a:lnSpc>
            </a:pPr>
            <a:r>
              <a:rPr sz="1100" b="0" i="0">
                <a:solidFill>
                  <a:srgbClr val="5B6578"/>
                </a:solidFill>
                <a:latin typeface="Arial"/>
              </a:rPr>
              <a:t>RoboTokens  ·  Vision is not enough</a:t>
            </a:r>
          </a:p>
        </p:txBody>
      </p:sp>
      <p:sp>
        <p:nvSpPr>
          <p:cNvPr id="24" name="TextBox 23"/>
          <p:cNvSpPr txBox="1"/>
          <p:nvPr/>
        </p:nvSpPr>
        <p:spPr>
          <a:xfrm>
            <a:off x="9966960" y="6400800"/>
            <a:ext cx="640080" cy="274320"/>
          </a:xfrm>
          <a:prstGeom prst="rect">
            <a:avLst/>
          </a:prstGeom>
          <a:noFill/>
        </p:spPr>
        <p:txBody>
          <a:bodyPr wrap="square" anchor="t" lIns="45720" rIns="45720">
            <a:spAutoFit/>
          </a:bodyPr>
          <a:lstStyle/>
          <a:p>
            <a:pPr algn="r">
              <a:lnSpc>
                <a:spcPct val="110000"/>
              </a:lnSpc>
            </a:pPr>
            <a:r>
              <a:rPr sz="1100" b="0" i="0">
                <a:solidFill>
                  <a:srgbClr val="5B6578"/>
                </a:solidFill>
                <a:latin typeface="Arial"/>
              </a:rPr>
              <a:t>4</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0"/>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3D8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28600"/>
            <a:ext cx="10058400" cy="320040"/>
          </a:xfrm>
          <a:prstGeom prst="rect">
            <a:avLst/>
          </a:prstGeom>
          <a:noFill/>
        </p:spPr>
        <p:txBody>
          <a:bodyPr wrap="square" anchor="t" lIns="45720" rIns="45720">
            <a:spAutoFit/>
          </a:bodyPr>
          <a:lstStyle/>
          <a:p>
            <a:pPr algn="l">
              <a:lnSpc>
                <a:spcPct val="110000"/>
              </a:lnSpc>
            </a:pPr>
            <a:r>
              <a:rPr sz="1200" b="1" i="0">
                <a:solidFill>
                  <a:srgbClr val="3D8F8C"/>
                </a:solidFill>
                <a:latin typeface="Arial"/>
              </a:rPr>
              <a:t>CROSS-EMBODIMENT SIMULATION</a:t>
            </a:r>
          </a:p>
        </p:txBody>
      </p:sp>
      <p:sp>
        <p:nvSpPr>
          <p:cNvPr id="4" name="TextBox 3"/>
          <p:cNvSpPr txBox="1"/>
          <p:nvPr/>
        </p:nvSpPr>
        <p:spPr>
          <a:xfrm>
            <a:off x="777240" y="429768"/>
            <a:ext cx="10789920" cy="731520"/>
          </a:xfrm>
          <a:prstGeom prst="rect">
            <a:avLst/>
          </a:prstGeom>
          <a:noFill/>
        </p:spPr>
        <p:txBody>
          <a:bodyPr wrap="square" anchor="t" lIns="45720" rIns="45720">
            <a:spAutoFit/>
          </a:bodyPr>
          <a:lstStyle/>
          <a:p>
            <a:pPr algn="l">
              <a:lnSpc>
                <a:spcPct val="110000"/>
              </a:lnSpc>
            </a:pPr>
            <a:r>
              <a:rPr sz="3400" b="1" i="0">
                <a:solidFill>
                  <a:srgbClr val="16294A"/>
                </a:solidFill>
                <a:latin typeface="Arial"/>
              </a:rPr>
              <a:t>Same recipe, three different arms.</a:t>
            </a:r>
          </a:p>
        </p:txBody>
      </p:sp>
      <p:pic>
        <p:nvPicPr>
          <p:cNvPr id="5" name="Picture 4" descr="exploration.gif"/>
          <p:cNvPicPr>
            <a:picLocks noChangeAspect="1"/>
          </p:cNvPicPr>
          <p:nvPr/>
        </p:nvPicPr>
        <p:blipFill>
          <a:blip r:embed="rId3"/>
          <a:stretch>
            <a:fillRect/>
          </a:stretch>
        </p:blipFill>
        <p:spPr>
          <a:xfrm>
            <a:off x="548640" y="1638350"/>
            <a:ext cx="11091672" cy="3672739"/>
          </a:xfrm>
          <a:prstGeom prst="rect">
            <a:avLst/>
          </a:prstGeom>
        </p:spPr>
      </p:pic>
      <p:sp>
        <p:nvSpPr>
          <p:cNvPr id="6" name="TextBox 5"/>
          <p:cNvSpPr txBox="1"/>
          <p:nvPr/>
        </p:nvSpPr>
        <p:spPr>
          <a:xfrm>
            <a:off x="548640" y="5623560"/>
            <a:ext cx="11091672" cy="548640"/>
          </a:xfrm>
          <a:prstGeom prst="rect">
            <a:avLst/>
          </a:prstGeom>
          <a:noFill/>
        </p:spPr>
        <p:txBody>
          <a:bodyPr wrap="square" anchor="t" lIns="45720" rIns="45720">
            <a:spAutoFit/>
          </a:bodyPr>
          <a:lstStyle/>
          <a:p>
            <a:pPr algn="ctr">
              <a:lnSpc>
                <a:spcPct val="110000"/>
              </a:lnSpc>
            </a:pPr>
            <a:r>
              <a:rPr sz="1500" b="1" i="0">
                <a:solidFill>
                  <a:srgbClr val="5B6578"/>
                </a:solidFill>
                <a:latin typeface="Arial"/>
              </a:rPr>
              <a:t>MuJoCo, 2x speed: </a:t>
            </a:r>
            <a:r>
              <a:rPr sz="1500" b="0" i="0">
                <a:solidFill>
                  <a:srgbClr val="5B6578"/>
                </a:solidFill>
                <a:latin typeface="Arial"/>
              </a:rPr>
              <a:t>each arm lifts two look-alike cans, wiggles its joints to weigh them, and puts them back. Simulation, not hardware data.</a:t>
            </a:r>
          </a:p>
        </p:txBody>
      </p:sp>
      <p:pic>
        <p:nvPicPr>
          <p:cNvPr id="7" name="Picture 6" descr="logo.png"/>
          <p:cNvPicPr>
            <a:picLocks noChangeAspect="1"/>
          </p:cNvPicPr>
          <p:nvPr/>
        </p:nvPicPr>
        <p:blipFill>
          <a:blip r:embed="rId4"/>
          <a:stretch>
            <a:fillRect/>
          </a:stretch>
        </p:blipFill>
        <p:spPr>
          <a:xfrm>
            <a:off x="10744200" y="6327648"/>
            <a:ext cx="908747" cy="384048"/>
          </a:xfrm>
          <a:prstGeom prst="rect">
            <a:avLst/>
          </a:prstGeom>
        </p:spPr>
      </p:pic>
      <p:sp>
        <p:nvSpPr>
          <p:cNvPr id="8" name="TextBox 7"/>
          <p:cNvSpPr txBox="1"/>
          <p:nvPr/>
        </p:nvSpPr>
        <p:spPr>
          <a:xfrm>
            <a:off x="548640" y="6400800"/>
            <a:ext cx="5486400" cy="274320"/>
          </a:xfrm>
          <a:prstGeom prst="rect">
            <a:avLst/>
          </a:prstGeom>
          <a:noFill/>
        </p:spPr>
        <p:txBody>
          <a:bodyPr wrap="square" anchor="t" lIns="45720" rIns="45720">
            <a:spAutoFit/>
          </a:bodyPr>
          <a:lstStyle/>
          <a:p>
            <a:pPr algn="l">
              <a:lnSpc>
                <a:spcPct val="110000"/>
              </a:lnSpc>
            </a:pPr>
            <a:r>
              <a:rPr sz="1100" b="0" i="0">
                <a:solidFill>
                  <a:srgbClr val="5B6578"/>
                </a:solidFill>
                <a:latin typeface="Arial"/>
              </a:rPr>
              <a:t>RoboTokens  ·  Vision is not enough</a:t>
            </a:r>
          </a:p>
        </p:txBody>
      </p:sp>
      <p:sp>
        <p:nvSpPr>
          <p:cNvPr id="9" name="TextBox 8"/>
          <p:cNvSpPr txBox="1"/>
          <p:nvPr/>
        </p:nvSpPr>
        <p:spPr>
          <a:xfrm>
            <a:off x="9966960" y="6400800"/>
            <a:ext cx="640080" cy="274320"/>
          </a:xfrm>
          <a:prstGeom prst="rect">
            <a:avLst/>
          </a:prstGeom>
          <a:noFill/>
        </p:spPr>
        <p:txBody>
          <a:bodyPr wrap="square" anchor="t" lIns="45720" rIns="45720">
            <a:spAutoFit/>
          </a:bodyPr>
          <a:lstStyle/>
          <a:p>
            <a:pPr algn="r">
              <a:lnSpc>
                <a:spcPct val="110000"/>
              </a:lnSpc>
            </a:pPr>
            <a:r>
              <a:rPr sz="1100" b="0" i="0">
                <a:solidFill>
                  <a:srgbClr val="5B657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3D8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28600"/>
            <a:ext cx="10058400" cy="320040"/>
          </a:xfrm>
          <a:prstGeom prst="rect">
            <a:avLst/>
          </a:prstGeom>
          <a:noFill/>
        </p:spPr>
        <p:txBody>
          <a:bodyPr wrap="square" anchor="t" lIns="45720" rIns="45720">
            <a:spAutoFit/>
          </a:bodyPr>
          <a:lstStyle/>
          <a:p>
            <a:pPr algn="l">
              <a:lnSpc>
                <a:spcPct val="110000"/>
              </a:lnSpc>
            </a:pPr>
            <a:r>
              <a:rPr sz="1200" b="1" i="0">
                <a:solidFill>
                  <a:srgbClr val="3D8F8C"/>
                </a:solidFill>
                <a:latin typeface="Arial"/>
              </a:rPr>
              <a:t>RESULTS</a:t>
            </a:r>
          </a:p>
        </p:txBody>
      </p:sp>
      <p:sp>
        <p:nvSpPr>
          <p:cNvPr id="4" name="TextBox 3"/>
          <p:cNvSpPr txBox="1"/>
          <p:nvPr/>
        </p:nvSpPr>
        <p:spPr>
          <a:xfrm>
            <a:off x="777240" y="429768"/>
            <a:ext cx="10789920" cy="731520"/>
          </a:xfrm>
          <a:prstGeom prst="rect">
            <a:avLst/>
          </a:prstGeom>
          <a:noFill/>
        </p:spPr>
        <p:txBody>
          <a:bodyPr wrap="square" anchor="t" lIns="45720" rIns="45720">
            <a:spAutoFit/>
          </a:bodyPr>
          <a:lstStyle/>
          <a:p>
            <a:pPr algn="l">
              <a:lnSpc>
                <a:spcPct val="110000"/>
              </a:lnSpc>
            </a:pPr>
            <a:r>
              <a:rPr sz="3400" b="1" i="0">
                <a:solidFill>
                  <a:srgbClr val="16294A"/>
                </a:solidFill>
                <a:latin typeface="Arial"/>
              </a:rPr>
              <a:t>Evidence, stated honestly.</a:t>
            </a:r>
          </a:p>
        </p:txBody>
      </p:sp>
      <p:pic>
        <p:nvPicPr>
          <p:cNvPr id="5" name="Picture 4" descr="cross_embodiment_results.png"/>
          <p:cNvPicPr>
            <a:picLocks noChangeAspect="1"/>
          </p:cNvPicPr>
          <p:nvPr/>
        </p:nvPicPr>
        <p:blipFill>
          <a:blip r:embed="rId3"/>
          <a:stretch>
            <a:fillRect/>
          </a:stretch>
        </p:blipFill>
        <p:spPr>
          <a:xfrm>
            <a:off x="548640" y="1353026"/>
            <a:ext cx="11091672" cy="3466147"/>
          </a:xfrm>
          <a:prstGeom prst="rect">
            <a:avLst/>
          </a:prstGeom>
        </p:spPr>
      </p:pic>
      <p:sp>
        <p:nvSpPr>
          <p:cNvPr id="6" name="Rounded Rectangle 5"/>
          <p:cNvSpPr/>
          <p:nvPr/>
        </p:nvSpPr>
        <p:spPr>
          <a:xfrm>
            <a:off x="548640" y="4983480"/>
            <a:ext cx="3593592" cy="1234440"/>
          </a:xfrm>
          <a:prstGeom prst="roundRect">
            <a:avLst>
              <a:gd name="adj" fmla="val 8000"/>
            </a:avLst>
          </a:prstGeom>
          <a:solidFill>
            <a:srgbClr val="FFFFFF"/>
          </a:solidFill>
          <a:ln w="1270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120640"/>
            <a:ext cx="73152" cy="960120"/>
          </a:xfrm>
          <a:prstGeom prst="rect">
            <a:avLst/>
          </a:prstGeom>
          <a:solidFill>
            <a:srgbClr val="2A9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047488"/>
            <a:ext cx="3291840" cy="1143000"/>
          </a:xfrm>
          <a:prstGeom prst="rect">
            <a:avLst/>
          </a:prstGeom>
          <a:noFill/>
        </p:spPr>
        <p:txBody>
          <a:bodyPr wrap="square" anchor="t" lIns="45720" rIns="45720">
            <a:spAutoFit/>
          </a:bodyPr>
          <a:lstStyle/>
          <a:p>
            <a:pPr algn="l">
              <a:lnSpc>
                <a:spcPct val="110000"/>
              </a:lnSpc>
            </a:pPr>
            <a:r>
              <a:rPr sz="1200" b="1" i="0">
                <a:solidFill>
                  <a:srgbClr val="2A9D5B"/>
                </a:solidFill>
                <a:latin typeface="Arial"/>
              </a:rPr>
              <a:t>HARDWARE</a:t>
            </a:r>
          </a:p>
          <a:p>
            <a:pPr algn="l">
              <a:lnSpc>
                <a:spcPct val="110000"/>
              </a:lnSpc>
            </a:pPr>
            <a:r>
              <a:rPr sz="1350" b="0" i="0">
                <a:solidFill>
                  <a:srgbClr val="16294A"/>
                </a:solidFill>
                <a:latin typeface="Arial"/>
              </a:rPr>
              <a:t>Full pipeline end to end on the real OpenArm: see, weigh, decide, hand over.</a:t>
            </a:r>
          </a:p>
        </p:txBody>
      </p:sp>
      <p:sp>
        <p:nvSpPr>
          <p:cNvPr id="9" name="Rounded Rectangle 8"/>
          <p:cNvSpPr/>
          <p:nvPr/>
        </p:nvSpPr>
        <p:spPr>
          <a:xfrm>
            <a:off x="4297679" y="4983480"/>
            <a:ext cx="3593592" cy="1234440"/>
          </a:xfrm>
          <a:prstGeom prst="roundRect">
            <a:avLst>
              <a:gd name="adj" fmla="val 8000"/>
            </a:avLst>
          </a:prstGeom>
          <a:solidFill>
            <a:srgbClr val="FFFFFF"/>
          </a:solidFill>
          <a:ln w="1270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79" y="5120640"/>
            <a:ext cx="73152" cy="960120"/>
          </a:xfrm>
          <a:prstGeom prst="rect">
            <a:avLst/>
          </a:prstGeom>
          <a:solidFill>
            <a:srgbClr val="2F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8847" y="5047488"/>
            <a:ext cx="3291840" cy="1143000"/>
          </a:xfrm>
          <a:prstGeom prst="rect">
            <a:avLst/>
          </a:prstGeom>
          <a:noFill/>
        </p:spPr>
        <p:txBody>
          <a:bodyPr wrap="square" anchor="t" lIns="45720" rIns="45720">
            <a:spAutoFit/>
          </a:bodyPr>
          <a:lstStyle/>
          <a:p>
            <a:pPr algn="l">
              <a:lnSpc>
                <a:spcPct val="110000"/>
              </a:lnSpc>
            </a:pPr>
            <a:r>
              <a:rPr sz="1200" b="1" i="0">
                <a:solidFill>
                  <a:srgbClr val="2F6FDB"/>
                </a:solidFill>
                <a:latin typeface="Arial"/>
              </a:rPr>
              <a:t>SIMULATION</a:t>
            </a:r>
          </a:p>
          <a:p>
            <a:pPr algn="l">
              <a:lnSpc>
                <a:spcPct val="110000"/>
              </a:lnSpc>
            </a:pPr>
            <a:r>
              <a:rPr sz="1350" b="0" i="0">
                <a:solidFill>
                  <a:srgbClr val="16294A"/>
                </a:solidFill>
                <a:latin typeface="Arial"/>
              </a:rPr>
              <a:t>Realistic error budget. Full vs. empty: 300 / 300 on all arms. OpenArm resolves ~20–30 g.</a:t>
            </a:r>
          </a:p>
        </p:txBody>
      </p:sp>
      <p:sp>
        <p:nvSpPr>
          <p:cNvPr id="12" name="Rounded Rectangle 11"/>
          <p:cNvSpPr/>
          <p:nvPr/>
        </p:nvSpPr>
        <p:spPr>
          <a:xfrm>
            <a:off x="8046719" y="4983480"/>
            <a:ext cx="3593592" cy="1234440"/>
          </a:xfrm>
          <a:prstGeom prst="roundRect">
            <a:avLst>
              <a:gd name="adj" fmla="val 8000"/>
            </a:avLst>
          </a:prstGeom>
          <a:solidFill>
            <a:srgbClr val="FFFFFF"/>
          </a:solidFill>
          <a:ln w="1270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19" y="5120640"/>
            <a:ext cx="73152" cy="960120"/>
          </a:xfrm>
          <a:prstGeom prst="rect">
            <a:avLst/>
          </a:prstGeom>
          <a:solidFill>
            <a:srgbClr val="D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8" y="5047488"/>
            <a:ext cx="3291840" cy="1143000"/>
          </a:xfrm>
          <a:prstGeom prst="rect">
            <a:avLst/>
          </a:prstGeom>
          <a:noFill/>
        </p:spPr>
        <p:txBody>
          <a:bodyPr wrap="square" anchor="t" lIns="45720" rIns="45720">
            <a:spAutoFit/>
          </a:bodyPr>
          <a:lstStyle/>
          <a:p>
            <a:pPr algn="l">
              <a:lnSpc>
                <a:spcPct val="110000"/>
              </a:lnSpc>
            </a:pPr>
            <a:r>
              <a:rPr sz="1200" b="1" i="0">
                <a:solidFill>
                  <a:srgbClr val="D98A1A"/>
                </a:solidFill>
                <a:latin typeface="Arial"/>
              </a:rPr>
              <a:t>TO FIX / NOT YET</a:t>
            </a:r>
          </a:p>
          <a:p>
            <a:pPr algn="l">
              <a:lnSpc>
                <a:spcPct val="110000"/>
              </a:lnSpc>
            </a:pPr>
            <a:r>
              <a:rPr sz="1350" b="0" i="0">
                <a:solidFill>
                  <a:srgbClr val="16294A"/>
                </a:solidFill>
                <a:latin typeface="Arial"/>
              </a:rPr>
              <a:t>Uncertainty is overconfident below ~20 g: add a repeatability floor. Real benchmarks next.</a:t>
            </a:r>
          </a:p>
        </p:txBody>
      </p:sp>
      <p:pic>
        <p:nvPicPr>
          <p:cNvPr id="15" name="Picture 14" descr="logo.png"/>
          <p:cNvPicPr>
            <a:picLocks noChangeAspect="1"/>
          </p:cNvPicPr>
          <p:nvPr/>
        </p:nvPicPr>
        <p:blipFill>
          <a:blip r:embed="rId4"/>
          <a:stretch>
            <a:fillRect/>
          </a:stretch>
        </p:blipFill>
        <p:spPr>
          <a:xfrm>
            <a:off x="10744200" y="6327648"/>
            <a:ext cx="908747" cy="384048"/>
          </a:xfrm>
          <a:prstGeom prst="rect">
            <a:avLst/>
          </a:prstGeom>
        </p:spPr>
      </p:pic>
      <p:sp>
        <p:nvSpPr>
          <p:cNvPr id="16" name="TextBox 15"/>
          <p:cNvSpPr txBox="1"/>
          <p:nvPr/>
        </p:nvSpPr>
        <p:spPr>
          <a:xfrm>
            <a:off x="548640" y="6400800"/>
            <a:ext cx="5486400" cy="274320"/>
          </a:xfrm>
          <a:prstGeom prst="rect">
            <a:avLst/>
          </a:prstGeom>
          <a:noFill/>
        </p:spPr>
        <p:txBody>
          <a:bodyPr wrap="square" anchor="t" lIns="45720" rIns="45720">
            <a:spAutoFit/>
          </a:bodyPr>
          <a:lstStyle/>
          <a:p>
            <a:pPr algn="l">
              <a:lnSpc>
                <a:spcPct val="110000"/>
              </a:lnSpc>
            </a:pPr>
            <a:r>
              <a:rPr sz="1100" b="0" i="0">
                <a:solidFill>
                  <a:srgbClr val="5B6578"/>
                </a:solidFill>
                <a:latin typeface="Arial"/>
              </a:rPr>
              <a:t>RoboTokens  ·  Vision is not enough</a:t>
            </a:r>
          </a:p>
        </p:txBody>
      </p:sp>
      <p:sp>
        <p:nvSpPr>
          <p:cNvPr id="17" name="TextBox 16"/>
          <p:cNvSpPr txBox="1"/>
          <p:nvPr/>
        </p:nvSpPr>
        <p:spPr>
          <a:xfrm>
            <a:off x="9966960" y="6400800"/>
            <a:ext cx="640080" cy="274320"/>
          </a:xfrm>
          <a:prstGeom prst="rect">
            <a:avLst/>
          </a:prstGeom>
          <a:noFill/>
        </p:spPr>
        <p:txBody>
          <a:bodyPr wrap="square" anchor="t" lIns="45720" rIns="45720">
            <a:spAutoFit/>
          </a:bodyPr>
          <a:lstStyle/>
          <a:p>
            <a:pPr algn="r">
              <a:lnSpc>
                <a:spcPct val="110000"/>
              </a:lnSpc>
            </a:pPr>
            <a:r>
              <a:rPr sz="1100" b="0" i="0">
                <a:solidFill>
                  <a:srgbClr val="5B657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3D8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28600"/>
            <a:ext cx="10058400" cy="320040"/>
          </a:xfrm>
          <a:prstGeom prst="rect">
            <a:avLst/>
          </a:prstGeom>
          <a:noFill/>
        </p:spPr>
        <p:txBody>
          <a:bodyPr wrap="square" anchor="t" lIns="45720" rIns="45720">
            <a:spAutoFit/>
          </a:bodyPr>
          <a:lstStyle/>
          <a:p>
            <a:pPr algn="l">
              <a:lnSpc>
                <a:spcPct val="110000"/>
              </a:lnSpc>
            </a:pPr>
            <a:r>
              <a:rPr sz="1200" b="1" i="0">
                <a:solidFill>
                  <a:srgbClr val="3D8F8C"/>
                </a:solidFill>
                <a:latin typeface="Arial"/>
              </a:rPr>
              <a:t>USE CASES</a:t>
            </a:r>
          </a:p>
        </p:txBody>
      </p:sp>
      <p:sp>
        <p:nvSpPr>
          <p:cNvPr id="4" name="TextBox 3"/>
          <p:cNvSpPr txBox="1"/>
          <p:nvPr/>
        </p:nvSpPr>
        <p:spPr>
          <a:xfrm>
            <a:off x="777240" y="429768"/>
            <a:ext cx="10789920" cy="731520"/>
          </a:xfrm>
          <a:prstGeom prst="rect">
            <a:avLst/>
          </a:prstGeom>
          <a:noFill/>
        </p:spPr>
        <p:txBody>
          <a:bodyPr wrap="square" anchor="t" lIns="45720" rIns="45720">
            <a:spAutoFit/>
          </a:bodyPr>
          <a:lstStyle/>
          <a:p>
            <a:pPr algn="l">
              <a:lnSpc>
                <a:spcPct val="110000"/>
              </a:lnSpc>
            </a:pPr>
            <a:r>
              <a:rPr sz="3400" b="1" i="0">
                <a:solidFill>
                  <a:srgbClr val="16294A"/>
                </a:solidFill>
                <a:latin typeface="Arial"/>
              </a:rPr>
              <a:t>Why it matters.</a:t>
            </a:r>
          </a:p>
        </p:txBody>
      </p:sp>
      <p:sp>
        <p:nvSpPr>
          <p:cNvPr id="5" name="Rounded Rectangle 4"/>
          <p:cNvSpPr/>
          <p:nvPr/>
        </p:nvSpPr>
        <p:spPr>
          <a:xfrm>
            <a:off x="548640" y="1463040"/>
            <a:ext cx="2743200" cy="2057400"/>
          </a:xfrm>
          <a:prstGeom prst="roundRect">
            <a:avLst>
              <a:gd name="adj" fmla="val 8000"/>
            </a:avLst>
          </a:prstGeom>
          <a:solidFill>
            <a:srgbClr val="FFFFFF"/>
          </a:solidFill>
          <a:ln w="1270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600200"/>
            <a:ext cx="2423160" cy="1828800"/>
          </a:xfrm>
          <a:prstGeom prst="rect">
            <a:avLst/>
          </a:prstGeom>
          <a:noFill/>
        </p:spPr>
        <p:txBody>
          <a:bodyPr wrap="square" anchor="t" lIns="45720" rIns="45720">
            <a:spAutoFit/>
          </a:bodyPr>
          <a:lstStyle/>
          <a:p>
            <a:pPr algn="l">
              <a:lnSpc>
                <a:spcPct val="115000"/>
              </a:lnSpc>
            </a:pPr>
            <a:r>
              <a:rPr sz="1800" b="1" i="0">
                <a:solidFill>
                  <a:srgbClr val="3D8F8C"/>
                </a:solidFill>
                <a:latin typeface="Arial"/>
              </a:rPr>
              <a:t>Warehouse picking</a:t>
            </a:r>
          </a:p>
          <a:p>
            <a:pPr algn="l">
              <a:lnSpc>
                <a:spcPct val="115000"/>
              </a:lnSpc>
            </a:pPr>
            <a:r>
              <a:rPr sz="1500" b="0" i="0">
                <a:solidFill>
                  <a:srgbClr val="16294A"/>
                </a:solidFill>
                <a:latin typeface="Arial"/>
              </a:rPr>
              <a:t>Weight checks catch mis-picks, today with extra scales. We check inside the grasp.</a:t>
            </a:r>
          </a:p>
        </p:txBody>
      </p:sp>
      <p:sp>
        <p:nvSpPr>
          <p:cNvPr id="7" name="Rounded Rectangle 6"/>
          <p:cNvSpPr/>
          <p:nvPr/>
        </p:nvSpPr>
        <p:spPr>
          <a:xfrm>
            <a:off x="3474720" y="1463040"/>
            <a:ext cx="2743200" cy="2057400"/>
          </a:xfrm>
          <a:prstGeom prst="roundRect">
            <a:avLst>
              <a:gd name="adj" fmla="val 8000"/>
            </a:avLst>
          </a:prstGeom>
          <a:solidFill>
            <a:srgbClr val="FFFFFF"/>
          </a:solidFill>
          <a:ln w="1270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1600200"/>
            <a:ext cx="2423160" cy="1828800"/>
          </a:xfrm>
          <a:prstGeom prst="rect">
            <a:avLst/>
          </a:prstGeom>
          <a:noFill/>
        </p:spPr>
        <p:txBody>
          <a:bodyPr wrap="square" anchor="t" lIns="45720" rIns="45720">
            <a:spAutoFit/>
          </a:bodyPr>
          <a:lstStyle/>
          <a:p>
            <a:pPr algn="l">
              <a:lnSpc>
                <a:spcPct val="115000"/>
              </a:lnSpc>
            </a:pPr>
            <a:r>
              <a:rPr sz="1800" b="1" i="0">
                <a:solidFill>
                  <a:srgbClr val="3D8F8C"/>
                </a:solidFill>
                <a:latin typeface="Arial"/>
              </a:rPr>
              <a:t>Lab &amp; pharma</a:t>
            </a:r>
          </a:p>
          <a:p>
            <a:pPr algn="l">
              <a:lnSpc>
                <a:spcPct val="115000"/>
              </a:lnSpc>
            </a:pPr>
            <a:r>
              <a:rPr sz="1500" b="0" i="0">
                <a:solidFill>
                  <a:srgbClr val="16294A"/>
                </a:solidFill>
                <a:latin typeface="Arial"/>
              </a:rPr>
              <a:t>Fills are verified by weight. A screening check in flexible cells.</a:t>
            </a:r>
          </a:p>
        </p:txBody>
      </p:sp>
      <p:sp>
        <p:nvSpPr>
          <p:cNvPr id="9" name="Rounded Rectangle 8"/>
          <p:cNvSpPr/>
          <p:nvPr/>
        </p:nvSpPr>
        <p:spPr>
          <a:xfrm>
            <a:off x="548640" y="3703320"/>
            <a:ext cx="2743200" cy="2057400"/>
          </a:xfrm>
          <a:prstGeom prst="roundRect">
            <a:avLst>
              <a:gd name="adj" fmla="val 8000"/>
            </a:avLst>
          </a:prstGeom>
          <a:solidFill>
            <a:srgbClr val="FFFFFF"/>
          </a:solidFill>
          <a:ln w="1270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840480"/>
            <a:ext cx="2423160" cy="1828800"/>
          </a:xfrm>
          <a:prstGeom prst="rect">
            <a:avLst/>
          </a:prstGeom>
          <a:noFill/>
        </p:spPr>
        <p:txBody>
          <a:bodyPr wrap="square" anchor="t" lIns="45720" rIns="45720">
            <a:spAutoFit/>
          </a:bodyPr>
          <a:lstStyle/>
          <a:p>
            <a:pPr algn="l">
              <a:lnSpc>
                <a:spcPct val="115000"/>
              </a:lnSpc>
            </a:pPr>
            <a:r>
              <a:rPr sz="1800" b="1" i="0">
                <a:solidFill>
                  <a:srgbClr val="3D8F8C"/>
                </a:solidFill>
                <a:latin typeface="Arial"/>
              </a:rPr>
              <a:t>Assistive robots</a:t>
            </a:r>
          </a:p>
          <a:p>
            <a:pPr algn="l">
              <a:lnSpc>
                <a:spcPct val="115000"/>
              </a:lnSpc>
            </a:pPr>
            <a:r>
              <a:rPr sz="1500" b="0" i="0">
                <a:solidFill>
                  <a:srgbClr val="16294A"/>
                </a:solidFill>
                <a:latin typeface="Arial"/>
              </a:rPr>
              <a:t>Hand-over must release at the right moment: on felt contact.</a:t>
            </a:r>
          </a:p>
        </p:txBody>
      </p:sp>
      <p:sp>
        <p:nvSpPr>
          <p:cNvPr id="11" name="Rounded Rectangle 10"/>
          <p:cNvSpPr/>
          <p:nvPr/>
        </p:nvSpPr>
        <p:spPr>
          <a:xfrm>
            <a:off x="3474720" y="3703320"/>
            <a:ext cx="2743200" cy="2057400"/>
          </a:xfrm>
          <a:prstGeom prst="roundRect">
            <a:avLst>
              <a:gd name="adj" fmla="val 8000"/>
            </a:avLst>
          </a:prstGeom>
          <a:solidFill>
            <a:srgbClr val="FFFFFF"/>
          </a:solidFill>
          <a:ln w="1270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9312" y="3840480"/>
            <a:ext cx="2423160" cy="1828800"/>
          </a:xfrm>
          <a:prstGeom prst="rect">
            <a:avLst/>
          </a:prstGeom>
          <a:noFill/>
        </p:spPr>
        <p:txBody>
          <a:bodyPr wrap="square" anchor="t" lIns="45720" rIns="45720">
            <a:spAutoFit/>
          </a:bodyPr>
          <a:lstStyle/>
          <a:p>
            <a:pPr algn="l">
              <a:lnSpc>
                <a:spcPct val="115000"/>
              </a:lnSpc>
            </a:pPr>
            <a:r>
              <a:rPr sz="1800" b="1" i="0">
                <a:solidFill>
                  <a:srgbClr val="3D8F8C"/>
                </a:solidFill>
                <a:latin typeface="Arial"/>
              </a:rPr>
              <a:t>Robot learning</a:t>
            </a:r>
          </a:p>
          <a:p>
            <a:pPr algn="l">
              <a:lnSpc>
                <a:spcPct val="115000"/>
              </a:lnSpc>
            </a:pPr>
            <a:r>
              <a:rPr sz="1500" b="0" i="0">
                <a:solidFill>
                  <a:srgbClr val="16294A"/>
                </a:solidFill>
                <a:latin typeface="Arial"/>
              </a:rPr>
              <a:t>Measured physical labels instead of appearance-based guesses.</a:t>
            </a:r>
          </a:p>
        </p:txBody>
      </p:sp>
      <p:pic>
        <p:nvPicPr>
          <p:cNvPr id="13" name="Picture 12" descr="dashboard.png"/>
          <p:cNvPicPr>
            <a:picLocks noChangeAspect="1"/>
          </p:cNvPicPr>
          <p:nvPr/>
        </p:nvPicPr>
        <p:blipFill>
          <a:blip r:embed="rId3"/>
          <a:stretch>
            <a:fillRect/>
          </a:stretch>
        </p:blipFill>
        <p:spPr>
          <a:xfrm>
            <a:off x="6583680" y="1814855"/>
            <a:ext cx="5074920" cy="2588209"/>
          </a:xfrm>
          <a:prstGeom prst="rect">
            <a:avLst/>
          </a:prstGeom>
        </p:spPr>
      </p:pic>
      <p:sp>
        <p:nvSpPr>
          <p:cNvPr id="14" name="TextBox 13"/>
          <p:cNvSpPr txBox="1"/>
          <p:nvPr/>
        </p:nvSpPr>
        <p:spPr>
          <a:xfrm>
            <a:off x="6583680" y="4846320"/>
            <a:ext cx="5074920" cy="1188720"/>
          </a:xfrm>
          <a:prstGeom prst="rect">
            <a:avLst/>
          </a:prstGeom>
          <a:noFill/>
        </p:spPr>
        <p:txBody>
          <a:bodyPr wrap="square" anchor="t" lIns="45720" rIns="45720">
            <a:spAutoFit/>
          </a:bodyPr>
          <a:lstStyle/>
          <a:p>
            <a:pPr algn="l">
              <a:lnSpc>
                <a:spcPct val="110000"/>
              </a:lnSpc>
            </a:pPr>
            <a:r>
              <a:rPr sz="1400" b="1" i="0">
                <a:solidFill>
                  <a:srgbClr val="5B6578"/>
                </a:solidFill>
                <a:latin typeface="Arial"/>
              </a:rPr>
              <a:t>Every run is auditable. </a:t>
            </a:r>
            <a:r>
              <a:rPr sz="1400" b="0" i="0">
                <a:solidFill>
                  <a:srgbClr val="5B6578"/>
                </a:solidFill>
                <a:latin typeface="Arial"/>
              </a:rPr>
              <a:t>Dashboard: camera detections, MuJoCo twin rebuilt from vision, mass ± error, decision, live joint torques. (Shown with demo data.)</a:t>
            </a:r>
          </a:p>
        </p:txBody>
      </p:sp>
      <p:pic>
        <p:nvPicPr>
          <p:cNvPr id="15" name="Picture 14" descr="logo.png"/>
          <p:cNvPicPr>
            <a:picLocks noChangeAspect="1"/>
          </p:cNvPicPr>
          <p:nvPr/>
        </p:nvPicPr>
        <p:blipFill>
          <a:blip r:embed="rId4"/>
          <a:stretch>
            <a:fillRect/>
          </a:stretch>
        </p:blipFill>
        <p:spPr>
          <a:xfrm>
            <a:off x="10744200" y="6327648"/>
            <a:ext cx="908747" cy="384048"/>
          </a:xfrm>
          <a:prstGeom prst="rect">
            <a:avLst/>
          </a:prstGeom>
        </p:spPr>
      </p:pic>
      <p:sp>
        <p:nvSpPr>
          <p:cNvPr id="16" name="TextBox 15"/>
          <p:cNvSpPr txBox="1"/>
          <p:nvPr/>
        </p:nvSpPr>
        <p:spPr>
          <a:xfrm>
            <a:off x="548640" y="6400800"/>
            <a:ext cx="5486400" cy="274320"/>
          </a:xfrm>
          <a:prstGeom prst="rect">
            <a:avLst/>
          </a:prstGeom>
          <a:noFill/>
        </p:spPr>
        <p:txBody>
          <a:bodyPr wrap="square" anchor="t" lIns="45720" rIns="45720">
            <a:spAutoFit/>
          </a:bodyPr>
          <a:lstStyle/>
          <a:p>
            <a:pPr algn="l">
              <a:lnSpc>
                <a:spcPct val="110000"/>
              </a:lnSpc>
            </a:pPr>
            <a:r>
              <a:rPr sz="1100" b="0" i="0">
                <a:solidFill>
                  <a:srgbClr val="5B6578"/>
                </a:solidFill>
                <a:latin typeface="Arial"/>
              </a:rPr>
              <a:t>RoboTokens  ·  Vision is not enough</a:t>
            </a:r>
          </a:p>
        </p:txBody>
      </p:sp>
      <p:sp>
        <p:nvSpPr>
          <p:cNvPr id="17" name="TextBox 16"/>
          <p:cNvSpPr txBox="1"/>
          <p:nvPr/>
        </p:nvSpPr>
        <p:spPr>
          <a:xfrm>
            <a:off x="9966960" y="6400800"/>
            <a:ext cx="640080" cy="274320"/>
          </a:xfrm>
          <a:prstGeom prst="rect">
            <a:avLst/>
          </a:prstGeom>
          <a:noFill/>
        </p:spPr>
        <p:txBody>
          <a:bodyPr wrap="square" anchor="t" lIns="45720" rIns="45720">
            <a:spAutoFit/>
          </a:bodyPr>
          <a:lstStyle/>
          <a:p>
            <a:pPr algn="r">
              <a:lnSpc>
                <a:spcPct val="110000"/>
              </a:lnSpc>
            </a:pPr>
            <a:r>
              <a:rPr sz="1100" b="0" i="0">
                <a:solidFill>
                  <a:srgbClr val="5B657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3D8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28600"/>
            <a:ext cx="10058400" cy="320040"/>
          </a:xfrm>
          <a:prstGeom prst="rect">
            <a:avLst/>
          </a:prstGeom>
          <a:noFill/>
        </p:spPr>
        <p:txBody>
          <a:bodyPr wrap="square" anchor="t" lIns="45720" rIns="45720">
            <a:spAutoFit/>
          </a:bodyPr>
          <a:lstStyle/>
          <a:p>
            <a:pPr algn="l">
              <a:lnSpc>
                <a:spcPct val="110000"/>
              </a:lnSpc>
            </a:pPr>
            <a:r>
              <a:rPr sz="1200" b="1" i="0">
                <a:solidFill>
                  <a:srgbClr val="3D8F8C"/>
                </a:solidFill>
                <a:latin typeface="Arial"/>
              </a:rPr>
              <a:t>WHO WE ARE</a:t>
            </a:r>
          </a:p>
        </p:txBody>
      </p:sp>
      <p:sp>
        <p:nvSpPr>
          <p:cNvPr id="4" name="TextBox 3"/>
          <p:cNvSpPr txBox="1"/>
          <p:nvPr/>
        </p:nvSpPr>
        <p:spPr>
          <a:xfrm>
            <a:off x="777240" y="429768"/>
            <a:ext cx="10789920" cy="731520"/>
          </a:xfrm>
          <a:prstGeom prst="rect">
            <a:avLst/>
          </a:prstGeom>
          <a:noFill/>
        </p:spPr>
        <p:txBody>
          <a:bodyPr wrap="square" anchor="t" lIns="45720" rIns="45720">
            <a:spAutoFit/>
          </a:bodyPr>
          <a:lstStyle/>
          <a:p>
            <a:pPr algn="l">
              <a:lnSpc>
                <a:spcPct val="110000"/>
              </a:lnSpc>
            </a:pPr>
            <a:r>
              <a:rPr sz="3400" b="1" i="0">
                <a:solidFill>
                  <a:srgbClr val="16294A"/>
                </a:solidFill>
                <a:latin typeface="Arial"/>
              </a:rPr>
              <a:t>The team.</a:t>
            </a:r>
          </a:p>
        </p:txBody>
      </p:sp>
      <p:sp>
        <p:nvSpPr>
          <p:cNvPr id="5" name="Rounded Rectangle 4"/>
          <p:cNvSpPr/>
          <p:nvPr/>
        </p:nvSpPr>
        <p:spPr>
          <a:xfrm>
            <a:off x="548640" y="1691640"/>
            <a:ext cx="2633472" cy="3749039"/>
          </a:xfrm>
          <a:prstGeom prst="roundRect">
            <a:avLst>
              <a:gd name="adj" fmla="val 8000"/>
            </a:avLst>
          </a:prstGeom>
          <a:solidFill>
            <a:srgbClr val="FFFFFF"/>
          </a:solidFill>
          <a:ln w="1270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71016" y="2057400"/>
            <a:ext cx="1188720" cy="1188720"/>
          </a:xfrm>
          <a:prstGeom prst="ellipse">
            <a:avLst/>
          </a:prstGeom>
          <a:solidFill>
            <a:srgbClr val="3D8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71016" y="2057400"/>
            <a:ext cx="1188720" cy="1188720"/>
          </a:xfrm>
          <a:prstGeom prst="rect">
            <a:avLst/>
          </a:prstGeom>
          <a:noFill/>
        </p:spPr>
        <p:txBody>
          <a:bodyPr wrap="square" anchor="ctr" lIns="45720" rIns="45720">
            <a:spAutoFit/>
          </a:bodyPr>
          <a:lstStyle/>
          <a:p>
            <a:pPr algn="ctr">
              <a:lnSpc>
                <a:spcPct val="110000"/>
              </a:lnSpc>
            </a:pPr>
            <a:r>
              <a:rPr sz="3000" b="1" i="0">
                <a:solidFill>
                  <a:srgbClr val="FFFFFF"/>
                </a:solidFill>
                <a:latin typeface="Arial"/>
              </a:rPr>
              <a:t>PD</a:t>
            </a:r>
          </a:p>
        </p:txBody>
      </p:sp>
      <p:sp>
        <p:nvSpPr>
          <p:cNvPr id="8" name="TextBox 7"/>
          <p:cNvSpPr txBox="1"/>
          <p:nvPr/>
        </p:nvSpPr>
        <p:spPr>
          <a:xfrm>
            <a:off x="685800" y="3520440"/>
            <a:ext cx="2359152" cy="822960"/>
          </a:xfrm>
          <a:prstGeom prst="rect">
            <a:avLst/>
          </a:prstGeom>
          <a:noFill/>
        </p:spPr>
        <p:txBody>
          <a:bodyPr wrap="square" anchor="ctr" lIns="45720" rIns="45720">
            <a:spAutoFit/>
          </a:bodyPr>
          <a:lstStyle/>
          <a:p>
            <a:pPr algn="ctr">
              <a:lnSpc>
                <a:spcPct val="110000"/>
              </a:lnSpc>
            </a:pPr>
            <a:r>
              <a:rPr sz="2000" b="1" i="0">
                <a:solidFill>
                  <a:srgbClr val="16294A"/>
                </a:solidFill>
                <a:latin typeface="Arial"/>
              </a:rPr>
              <a:t>Pietro Dardano</a:t>
            </a:r>
          </a:p>
        </p:txBody>
      </p:sp>
      <p:sp>
        <p:nvSpPr>
          <p:cNvPr id="9" name="TextBox 8"/>
          <p:cNvSpPr txBox="1"/>
          <p:nvPr/>
        </p:nvSpPr>
        <p:spPr>
          <a:xfrm>
            <a:off x="685800" y="4343400"/>
            <a:ext cx="2359152" cy="914400"/>
          </a:xfrm>
          <a:prstGeom prst="rect">
            <a:avLst/>
          </a:prstGeom>
          <a:noFill/>
        </p:spPr>
        <p:txBody>
          <a:bodyPr wrap="square" anchor="t" lIns="45720" rIns="45720">
            <a:spAutoFit/>
          </a:bodyPr>
          <a:lstStyle/>
          <a:p>
            <a:pPr algn="ctr">
              <a:lnSpc>
                <a:spcPct val="110000"/>
              </a:lnSpc>
            </a:pPr>
            <a:r>
              <a:rPr sz="1400" b="0" i="0">
                <a:solidFill>
                  <a:srgbClr val="5B6578"/>
                </a:solidFill>
                <a:latin typeface="Arial"/>
              </a:rPr>
              <a:t>[role]</a:t>
            </a:r>
          </a:p>
        </p:txBody>
      </p:sp>
      <p:sp>
        <p:nvSpPr>
          <p:cNvPr id="10" name="Rounded Rectangle 9"/>
          <p:cNvSpPr/>
          <p:nvPr/>
        </p:nvSpPr>
        <p:spPr>
          <a:xfrm>
            <a:off x="3364992" y="1691640"/>
            <a:ext cx="2633472" cy="3749039"/>
          </a:xfrm>
          <a:prstGeom prst="roundRect">
            <a:avLst>
              <a:gd name="adj" fmla="val 8000"/>
            </a:avLst>
          </a:prstGeom>
          <a:solidFill>
            <a:srgbClr val="FFFFFF"/>
          </a:solidFill>
          <a:ln w="1270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087368" y="2057400"/>
            <a:ext cx="1188720" cy="1188720"/>
          </a:xfrm>
          <a:prstGeom prst="ellipse">
            <a:avLst/>
          </a:prstGeom>
          <a:solidFill>
            <a:srgbClr val="2F6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87368" y="2057400"/>
            <a:ext cx="1188720" cy="1188720"/>
          </a:xfrm>
          <a:prstGeom prst="rect">
            <a:avLst/>
          </a:prstGeom>
          <a:noFill/>
        </p:spPr>
        <p:txBody>
          <a:bodyPr wrap="square" anchor="ctr" lIns="45720" rIns="45720">
            <a:spAutoFit/>
          </a:bodyPr>
          <a:lstStyle/>
          <a:p>
            <a:pPr algn="ctr">
              <a:lnSpc>
                <a:spcPct val="110000"/>
              </a:lnSpc>
            </a:pPr>
            <a:r>
              <a:rPr sz="3000" b="1" i="0">
                <a:solidFill>
                  <a:srgbClr val="FFFFFF"/>
                </a:solidFill>
                <a:latin typeface="Arial"/>
              </a:rPr>
              <a:t>Z</a:t>
            </a:r>
          </a:p>
        </p:txBody>
      </p:sp>
      <p:sp>
        <p:nvSpPr>
          <p:cNvPr id="13" name="TextBox 12"/>
          <p:cNvSpPr txBox="1"/>
          <p:nvPr/>
        </p:nvSpPr>
        <p:spPr>
          <a:xfrm>
            <a:off x="3502152" y="3520440"/>
            <a:ext cx="2359152" cy="822960"/>
          </a:xfrm>
          <a:prstGeom prst="rect">
            <a:avLst/>
          </a:prstGeom>
          <a:noFill/>
        </p:spPr>
        <p:txBody>
          <a:bodyPr wrap="square" anchor="ctr" lIns="45720" rIns="45720">
            <a:spAutoFit/>
          </a:bodyPr>
          <a:lstStyle/>
          <a:p>
            <a:pPr algn="ctr">
              <a:lnSpc>
                <a:spcPct val="110000"/>
              </a:lnSpc>
            </a:pPr>
            <a:r>
              <a:rPr sz="2000" b="1" i="0">
                <a:solidFill>
                  <a:srgbClr val="16294A"/>
                </a:solidFill>
                <a:latin typeface="Arial"/>
              </a:rPr>
              <a:t>Ziad</a:t>
            </a:r>
          </a:p>
        </p:txBody>
      </p:sp>
      <p:sp>
        <p:nvSpPr>
          <p:cNvPr id="14" name="TextBox 13"/>
          <p:cNvSpPr txBox="1"/>
          <p:nvPr/>
        </p:nvSpPr>
        <p:spPr>
          <a:xfrm>
            <a:off x="3502152" y="4343400"/>
            <a:ext cx="2359152" cy="914400"/>
          </a:xfrm>
          <a:prstGeom prst="rect">
            <a:avLst/>
          </a:prstGeom>
          <a:noFill/>
        </p:spPr>
        <p:txBody>
          <a:bodyPr wrap="square" anchor="t" lIns="45720" rIns="45720">
            <a:spAutoFit/>
          </a:bodyPr>
          <a:lstStyle/>
          <a:p>
            <a:pPr algn="ctr">
              <a:lnSpc>
                <a:spcPct val="110000"/>
              </a:lnSpc>
            </a:pPr>
            <a:r>
              <a:rPr sz="1400" b="0" i="0">
                <a:solidFill>
                  <a:srgbClr val="5B6578"/>
                </a:solidFill>
                <a:latin typeface="Arial"/>
              </a:rPr>
              <a:t>[role]</a:t>
            </a:r>
          </a:p>
        </p:txBody>
      </p:sp>
      <p:sp>
        <p:nvSpPr>
          <p:cNvPr id="15" name="Rounded Rectangle 14"/>
          <p:cNvSpPr/>
          <p:nvPr/>
        </p:nvSpPr>
        <p:spPr>
          <a:xfrm>
            <a:off x="6181344" y="1691640"/>
            <a:ext cx="2633472" cy="3749039"/>
          </a:xfrm>
          <a:prstGeom prst="roundRect">
            <a:avLst>
              <a:gd name="adj" fmla="val 8000"/>
            </a:avLst>
          </a:prstGeom>
          <a:solidFill>
            <a:srgbClr val="FFFFFF"/>
          </a:solidFill>
          <a:ln w="1270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903720" y="2057400"/>
            <a:ext cx="1188720" cy="1188720"/>
          </a:xfrm>
          <a:prstGeom prst="ellipse">
            <a:avLst/>
          </a:prstGeom>
          <a:solidFill>
            <a:srgbClr val="E2A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03720" y="2057400"/>
            <a:ext cx="1188720" cy="1188720"/>
          </a:xfrm>
          <a:prstGeom prst="rect">
            <a:avLst/>
          </a:prstGeom>
          <a:noFill/>
        </p:spPr>
        <p:txBody>
          <a:bodyPr wrap="square" anchor="ctr" lIns="45720" rIns="45720">
            <a:spAutoFit/>
          </a:bodyPr>
          <a:lstStyle/>
          <a:p>
            <a:pPr algn="ctr">
              <a:lnSpc>
                <a:spcPct val="110000"/>
              </a:lnSpc>
            </a:pPr>
            <a:r>
              <a:rPr sz="3000" b="1" i="0">
                <a:solidFill>
                  <a:srgbClr val="FFFFFF"/>
                </a:solidFill>
                <a:latin typeface="Arial"/>
              </a:rPr>
              <a:t>JY</a:t>
            </a:r>
          </a:p>
        </p:txBody>
      </p:sp>
      <p:sp>
        <p:nvSpPr>
          <p:cNvPr id="18" name="TextBox 17"/>
          <p:cNvSpPr txBox="1"/>
          <p:nvPr/>
        </p:nvSpPr>
        <p:spPr>
          <a:xfrm>
            <a:off x="6318504" y="3520440"/>
            <a:ext cx="2359152" cy="822960"/>
          </a:xfrm>
          <a:prstGeom prst="rect">
            <a:avLst/>
          </a:prstGeom>
          <a:noFill/>
        </p:spPr>
        <p:txBody>
          <a:bodyPr wrap="square" anchor="ctr" lIns="45720" rIns="45720">
            <a:spAutoFit/>
          </a:bodyPr>
          <a:lstStyle/>
          <a:p>
            <a:pPr algn="ctr">
              <a:lnSpc>
                <a:spcPct val="110000"/>
              </a:lnSpc>
            </a:pPr>
            <a:r>
              <a:rPr sz="2000" b="1" i="0">
                <a:solidFill>
                  <a:srgbClr val="16294A"/>
                </a:solidFill>
                <a:latin typeface="Arial"/>
              </a:rPr>
              <a:t>Jiwon You</a:t>
            </a:r>
          </a:p>
        </p:txBody>
      </p:sp>
      <p:sp>
        <p:nvSpPr>
          <p:cNvPr id="19" name="TextBox 18"/>
          <p:cNvSpPr txBox="1"/>
          <p:nvPr/>
        </p:nvSpPr>
        <p:spPr>
          <a:xfrm>
            <a:off x="6318504" y="4343400"/>
            <a:ext cx="2359152" cy="914400"/>
          </a:xfrm>
          <a:prstGeom prst="rect">
            <a:avLst/>
          </a:prstGeom>
          <a:noFill/>
        </p:spPr>
        <p:txBody>
          <a:bodyPr wrap="square" anchor="t" lIns="45720" rIns="45720">
            <a:spAutoFit/>
          </a:bodyPr>
          <a:lstStyle/>
          <a:p>
            <a:pPr algn="ctr">
              <a:lnSpc>
                <a:spcPct val="110000"/>
              </a:lnSpc>
            </a:pPr>
            <a:r>
              <a:rPr sz="1400" b="0" i="0">
                <a:solidFill>
                  <a:srgbClr val="5B6578"/>
                </a:solidFill>
                <a:latin typeface="Arial"/>
              </a:rPr>
              <a:t>[role]</a:t>
            </a:r>
          </a:p>
        </p:txBody>
      </p:sp>
      <p:sp>
        <p:nvSpPr>
          <p:cNvPr id="20" name="Rounded Rectangle 19"/>
          <p:cNvSpPr/>
          <p:nvPr/>
        </p:nvSpPr>
        <p:spPr>
          <a:xfrm>
            <a:off x="8997696" y="1691640"/>
            <a:ext cx="2633472" cy="3749039"/>
          </a:xfrm>
          <a:prstGeom prst="roundRect">
            <a:avLst>
              <a:gd name="adj" fmla="val 8000"/>
            </a:avLst>
          </a:prstGeom>
          <a:solidFill>
            <a:srgbClr val="FFFFFF"/>
          </a:solidFill>
          <a:ln w="1270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720072" y="2057400"/>
            <a:ext cx="1188720" cy="1188720"/>
          </a:xfrm>
          <a:prstGeom prst="ellipse">
            <a:avLst/>
          </a:prstGeom>
          <a:solidFill>
            <a:srgbClr val="2A9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20072" y="2057400"/>
            <a:ext cx="1188720" cy="1188720"/>
          </a:xfrm>
          <a:prstGeom prst="rect">
            <a:avLst/>
          </a:prstGeom>
          <a:noFill/>
        </p:spPr>
        <p:txBody>
          <a:bodyPr wrap="square" anchor="ctr" lIns="45720" rIns="45720">
            <a:spAutoFit/>
          </a:bodyPr>
          <a:lstStyle/>
          <a:p>
            <a:pPr algn="ctr">
              <a:lnSpc>
                <a:spcPct val="110000"/>
              </a:lnSpc>
            </a:pPr>
            <a:r>
              <a:rPr sz="3000" b="1" i="0">
                <a:solidFill>
                  <a:srgbClr val="FFFFFF"/>
                </a:solidFill>
                <a:latin typeface="Arial"/>
              </a:rPr>
              <a:t>?</a:t>
            </a:r>
          </a:p>
        </p:txBody>
      </p:sp>
      <p:sp>
        <p:nvSpPr>
          <p:cNvPr id="23" name="TextBox 22"/>
          <p:cNvSpPr txBox="1"/>
          <p:nvPr/>
        </p:nvSpPr>
        <p:spPr>
          <a:xfrm>
            <a:off x="9134856" y="3520440"/>
            <a:ext cx="2359152" cy="822960"/>
          </a:xfrm>
          <a:prstGeom prst="rect">
            <a:avLst/>
          </a:prstGeom>
          <a:noFill/>
        </p:spPr>
        <p:txBody>
          <a:bodyPr wrap="square" anchor="ctr" lIns="45720" rIns="45720">
            <a:spAutoFit/>
          </a:bodyPr>
          <a:lstStyle/>
          <a:p>
            <a:pPr algn="ctr">
              <a:lnSpc>
                <a:spcPct val="110000"/>
              </a:lnSpc>
            </a:pPr>
            <a:r>
              <a:rPr sz="2000" b="1" i="0">
                <a:solidFill>
                  <a:srgbClr val="16294A"/>
                </a:solidFill>
                <a:latin typeface="Arial"/>
              </a:rPr>
              <a:t>[Name]</a:t>
            </a:r>
          </a:p>
        </p:txBody>
      </p:sp>
      <p:sp>
        <p:nvSpPr>
          <p:cNvPr id="24" name="TextBox 23"/>
          <p:cNvSpPr txBox="1"/>
          <p:nvPr/>
        </p:nvSpPr>
        <p:spPr>
          <a:xfrm>
            <a:off x="9134856" y="4343400"/>
            <a:ext cx="2359152" cy="914400"/>
          </a:xfrm>
          <a:prstGeom prst="rect">
            <a:avLst/>
          </a:prstGeom>
          <a:noFill/>
        </p:spPr>
        <p:txBody>
          <a:bodyPr wrap="square" anchor="t" lIns="45720" rIns="45720">
            <a:spAutoFit/>
          </a:bodyPr>
          <a:lstStyle/>
          <a:p>
            <a:pPr algn="ctr">
              <a:lnSpc>
                <a:spcPct val="110000"/>
              </a:lnSpc>
            </a:pPr>
            <a:r>
              <a:rPr sz="1400" b="0" i="0">
                <a:solidFill>
                  <a:srgbClr val="5B6578"/>
                </a:solidFill>
                <a:latin typeface="Arial"/>
              </a:rPr>
              <a:t>[role]</a:t>
            </a:r>
          </a:p>
        </p:txBody>
      </p:sp>
      <p:pic>
        <p:nvPicPr>
          <p:cNvPr id="25" name="Picture 24" descr="logo.png"/>
          <p:cNvPicPr>
            <a:picLocks noChangeAspect="1"/>
          </p:cNvPicPr>
          <p:nvPr/>
        </p:nvPicPr>
        <p:blipFill>
          <a:blip r:embed="rId3"/>
          <a:stretch>
            <a:fillRect/>
          </a:stretch>
        </p:blipFill>
        <p:spPr>
          <a:xfrm>
            <a:off x="10744200" y="6327648"/>
            <a:ext cx="908747" cy="384048"/>
          </a:xfrm>
          <a:prstGeom prst="rect">
            <a:avLst/>
          </a:prstGeom>
        </p:spPr>
      </p:pic>
      <p:sp>
        <p:nvSpPr>
          <p:cNvPr id="26" name="TextBox 25"/>
          <p:cNvSpPr txBox="1"/>
          <p:nvPr/>
        </p:nvSpPr>
        <p:spPr>
          <a:xfrm>
            <a:off x="548640" y="6400800"/>
            <a:ext cx="5486400" cy="274320"/>
          </a:xfrm>
          <a:prstGeom prst="rect">
            <a:avLst/>
          </a:prstGeom>
          <a:noFill/>
        </p:spPr>
        <p:txBody>
          <a:bodyPr wrap="square" anchor="t" lIns="45720" rIns="45720">
            <a:spAutoFit/>
          </a:bodyPr>
          <a:lstStyle/>
          <a:p>
            <a:pPr algn="l">
              <a:lnSpc>
                <a:spcPct val="110000"/>
              </a:lnSpc>
            </a:pPr>
            <a:r>
              <a:rPr sz="1100" b="0" i="0">
                <a:solidFill>
                  <a:srgbClr val="5B6578"/>
                </a:solidFill>
                <a:latin typeface="Arial"/>
              </a:rPr>
              <a:t>RoboTokens  ·  Vision is not enough</a:t>
            </a:r>
          </a:p>
        </p:txBody>
      </p:sp>
      <p:sp>
        <p:nvSpPr>
          <p:cNvPr id="27" name="TextBox 26"/>
          <p:cNvSpPr txBox="1"/>
          <p:nvPr/>
        </p:nvSpPr>
        <p:spPr>
          <a:xfrm>
            <a:off x="9966960" y="6400800"/>
            <a:ext cx="640080" cy="274320"/>
          </a:xfrm>
          <a:prstGeom prst="rect">
            <a:avLst/>
          </a:prstGeom>
          <a:noFill/>
        </p:spPr>
        <p:txBody>
          <a:bodyPr wrap="square" anchor="t" lIns="45720" rIns="45720">
            <a:spAutoFit/>
          </a:bodyPr>
          <a:lstStyle/>
          <a:p>
            <a:pPr algn="r">
              <a:lnSpc>
                <a:spcPct val="110000"/>
              </a:lnSpc>
            </a:pPr>
            <a:r>
              <a:rPr sz="1100" b="0" i="0">
                <a:solidFill>
                  <a:srgbClr val="5B657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1371600"/>
            <a:ext cx="11091672" cy="914400"/>
          </a:xfrm>
          <a:prstGeom prst="rect">
            <a:avLst/>
          </a:prstGeom>
          <a:noFill/>
        </p:spPr>
        <p:txBody>
          <a:bodyPr wrap="square" anchor="t" lIns="45720" rIns="45720">
            <a:spAutoFit/>
          </a:bodyPr>
          <a:lstStyle/>
          <a:p>
            <a:pPr algn="ctr">
              <a:lnSpc>
                <a:spcPct val="110000"/>
              </a:lnSpc>
            </a:pPr>
            <a:r>
              <a:rPr sz="4000" b="1" i="0">
                <a:solidFill>
                  <a:srgbClr val="16294A"/>
                </a:solidFill>
                <a:latin typeface="Arial"/>
              </a:rPr>
              <a:t>Vision tells the robot what to pick.</a:t>
            </a:r>
          </a:p>
        </p:txBody>
      </p:sp>
      <p:sp>
        <p:nvSpPr>
          <p:cNvPr id="3" name="TextBox 2"/>
          <p:cNvSpPr txBox="1"/>
          <p:nvPr/>
        </p:nvSpPr>
        <p:spPr>
          <a:xfrm>
            <a:off x="548640" y="2286000"/>
            <a:ext cx="11091672" cy="914400"/>
          </a:xfrm>
          <a:prstGeom prst="rect">
            <a:avLst/>
          </a:prstGeom>
          <a:noFill/>
        </p:spPr>
        <p:txBody>
          <a:bodyPr wrap="square" anchor="t" lIns="45720" rIns="45720">
            <a:spAutoFit/>
          </a:bodyPr>
          <a:lstStyle/>
          <a:p>
            <a:pPr algn="ctr">
              <a:lnSpc>
                <a:spcPct val="110000"/>
              </a:lnSpc>
            </a:pPr>
            <a:r>
              <a:rPr sz="4000" b="1" i="0">
                <a:solidFill>
                  <a:srgbClr val="3D8F8C"/>
                </a:solidFill>
                <a:latin typeface="Arial"/>
              </a:rPr>
              <a:t>Interaction tells it what it picked.</a:t>
            </a:r>
          </a:p>
        </p:txBody>
      </p:sp>
      <p:pic>
        <p:nvPicPr>
          <p:cNvPr id="4" name="Picture 3" descr="logo.png"/>
          <p:cNvPicPr>
            <a:picLocks noChangeAspect="1"/>
          </p:cNvPicPr>
          <p:nvPr/>
        </p:nvPicPr>
        <p:blipFill>
          <a:blip r:embed="rId3"/>
          <a:stretch>
            <a:fillRect/>
          </a:stretch>
        </p:blipFill>
        <p:spPr>
          <a:xfrm>
            <a:off x="4160520" y="3531882"/>
            <a:ext cx="3840480" cy="1623034"/>
          </a:xfrm>
          <a:prstGeom prst="rect">
            <a:avLst/>
          </a:prstGeom>
        </p:spPr>
      </p:pic>
      <p:sp>
        <p:nvSpPr>
          <p:cNvPr id="5" name="TextBox 4"/>
          <p:cNvSpPr txBox="1"/>
          <p:nvPr/>
        </p:nvSpPr>
        <p:spPr>
          <a:xfrm>
            <a:off x="548640" y="5349240"/>
            <a:ext cx="11091672" cy="548640"/>
          </a:xfrm>
          <a:prstGeom prst="rect">
            <a:avLst/>
          </a:prstGeom>
          <a:noFill/>
        </p:spPr>
        <p:txBody>
          <a:bodyPr wrap="square" anchor="t" lIns="45720" rIns="45720">
            <a:spAutoFit/>
          </a:bodyPr>
          <a:lstStyle/>
          <a:p>
            <a:pPr algn="ctr">
              <a:lnSpc>
                <a:spcPct val="110000"/>
              </a:lnSpc>
            </a:pPr>
            <a:r>
              <a:rPr sz="2400" b="1" i="0">
                <a:solidFill>
                  <a:srgbClr val="E2A03D"/>
                </a:solidFill>
                <a:latin typeface="Arial"/>
              </a:rPr>
              <a:t>Vision is not enough.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